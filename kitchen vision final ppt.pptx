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97DC1210-119D-40D2-B82C-9C9F5C5A4FE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124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9456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2798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12915B-EA57-49D5-9644-3E460D084D68}"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4522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12915B-EA57-49D5-9644-3E460D084D68}" type="datetimeFigureOut">
              <a:rPr lang="en-IN" smtClean="0"/>
              <a:t>10-03-2026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DC1210-119D-40D2-B82C-9C9F5C5A4FE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97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12915B-EA57-49D5-9644-3E460D084D68}" type="datetimeFigureOut">
              <a:rPr lang="en-IN" smtClean="0"/>
              <a:t>10-03-2026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DC1210-119D-40D2-B82C-9C9F5C5A4FE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180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12915B-EA57-49D5-9644-3E460D084D68}" type="datetimeFigureOut">
              <a:rPr lang="en-IN" smtClean="0"/>
              <a:t>10-03-2026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DC1210-119D-40D2-B82C-9C9F5C5A4FE7}" type="slidenum">
              <a:rPr lang="en-IN" smtClean="0"/>
              <a:t>‹#›</a:t>
            </a:fld>
            <a:endParaRPr lang="en-IN"/>
          </a:p>
        </p:txBody>
      </p:sp>
    </p:spTree>
    <p:extLst>
      <p:ext uri="{BB962C8B-B14F-4D97-AF65-F5344CB8AC3E}">
        <p14:creationId xmlns:p14="http://schemas.microsoft.com/office/powerpoint/2010/main" val="107239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12915B-EA57-49D5-9644-3E460D084D68}"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394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112915B-EA57-49D5-9644-3E460D084D68}" type="datetimeFigureOut">
              <a:rPr lang="en-IN" smtClean="0"/>
              <a:t>10-03-2026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679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6071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769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112915B-EA57-49D5-9644-3E460D084D68}" type="datetimeFigureOut">
              <a:rPr lang="en-IN" smtClean="0"/>
              <a:t>10-03-2026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7DC1210-119D-40D2-B82C-9C9F5C5A4FE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7979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B9AB-774B-08E0-2E8C-C95D688289EC}"/>
              </a:ext>
            </a:extLst>
          </p:cNvPr>
          <p:cNvSpPr>
            <a:spLocks noGrp="1"/>
          </p:cNvSpPr>
          <p:nvPr>
            <p:ph type="ctrTitle"/>
          </p:nvPr>
        </p:nvSpPr>
        <p:spPr>
          <a:xfrm>
            <a:off x="2417779" y="802298"/>
            <a:ext cx="8637073" cy="849521"/>
          </a:xfrm>
        </p:spPr>
        <p:txBody>
          <a:bodyPr>
            <a:normAutofit fontScale="90000"/>
          </a:bodyPr>
          <a:lstStyle/>
          <a:p>
            <a:r>
              <a:rPr lang="en-US" b="1" dirty="0">
                <a:solidFill>
                  <a:srgbClr val="F94CAF"/>
                </a:solidFill>
                <a:latin typeface="Inconsolata Bold" pitchFamily="34" charset="0"/>
                <a:ea typeface="Inconsolata Bold" pitchFamily="34" charset="-122"/>
                <a:cs typeface="Inconsolata Bold" pitchFamily="34" charset="-120"/>
              </a:rPr>
              <a:t>Kitchen Vision</a:t>
            </a:r>
            <a:endParaRPr lang="en-IN" dirty="0"/>
          </a:p>
        </p:txBody>
      </p:sp>
      <p:sp>
        <p:nvSpPr>
          <p:cNvPr id="3" name="Subtitle 2">
            <a:extLst>
              <a:ext uri="{FF2B5EF4-FFF2-40B4-BE49-F238E27FC236}">
                <a16:creationId xmlns:a16="http://schemas.microsoft.com/office/drawing/2014/main" id="{9086423B-274B-746B-EFD2-9309BF7E0FF3}"/>
              </a:ext>
            </a:extLst>
          </p:cNvPr>
          <p:cNvSpPr>
            <a:spLocks noGrp="1"/>
          </p:cNvSpPr>
          <p:nvPr>
            <p:ph type="subTitle" idx="1"/>
          </p:nvPr>
        </p:nvSpPr>
        <p:spPr>
          <a:xfrm>
            <a:off x="2417780" y="3639359"/>
            <a:ext cx="8637072" cy="977621"/>
          </a:xfrm>
        </p:spPr>
        <p:txBody>
          <a:bodyPr>
            <a:normAutofit/>
          </a:bodyPr>
          <a:lstStyle/>
          <a:p>
            <a:r>
              <a:rPr lang="en-US" b="1" dirty="0">
                <a:solidFill>
                  <a:srgbClr val="F94CAF"/>
                </a:solidFill>
                <a:latin typeface="Inconsolata Bold" pitchFamily="34" charset="0"/>
                <a:ea typeface="Inconsolata Bold" pitchFamily="34" charset="-122"/>
                <a:cs typeface="Inconsolata Bold" pitchFamily="34" charset="-120"/>
              </a:rPr>
              <a:t>AI-Powered Pantry Analysis and Smart Recipe Recommendation System</a:t>
            </a:r>
            <a:endParaRPr lang="en-US" dirty="0"/>
          </a:p>
        </p:txBody>
      </p:sp>
      <p:sp>
        <p:nvSpPr>
          <p:cNvPr id="4" name="TextBox 3">
            <a:extLst>
              <a:ext uri="{FF2B5EF4-FFF2-40B4-BE49-F238E27FC236}">
                <a16:creationId xmlns:a16="http://schemas.microsoft.com/office/drawing/2014/main" id="{522C0287-17A6-CD53-6D8A-1373BE935B26}"/>
              </a:ext>
            </a:extLst>
          </p:cNvPr>
          <p:cNvSpPr txBox="1"/>
          <p:nvPr/>
        </p:nvSpPr>
        <p:spPr>
          <a:xfrm>
            <a:off x="2417779" y="4155315"/>
            <a:ext cx="8547626" cy="738664"/>
          </a:xfrm>
          <a:prstGeom prst="rect">
            <a:avLst/>
          </a:prstGeom>
          <a:noFill/>
        </p:spPr>
        <p:txBody>
          <a:bodyPr wrap="square" rtlCol="0">
            <a:spAutoFit/>
          </a:bodyPr>
          <a:lstStyle/>
          <a:p>
            <a:r>
              <a:rPr lang="en-US" sz="1200" dirty="0">
                <a:solidFill>
                  <a:schemeClr val="tx1">
                    <a:lumMod val="95000"/>
                    <a:lumOff val="5000"/>
                  </a:schemeClr>
                </a:solidFill>
                <a:latin typeface="Fira Sans" pitchFamily="34" charset="0"/>
                <a:ea typeface="Fira Sans" pitchFamily="34" charset="-122"/>
                <a:cs typeface="Fira Sans" pitchFamily="34" charset="-120"/>
              </a:rPr>
              <a:t>An intelligent cooking assistant that transforms pantry images into meaningful culinary insights using computer vision and artificial intelligence</a:t>
            </a:r>
            <a:endParaRPr lang="en-US" sz="1200" dirty="0">
              <a:solidFill>
                <a:schemeClr val="tx1">
                  <a:lumMod val="95000"/>
                  <a:lumOff val="5000"/>
                </a:schemeClr>
              </a:solidFill>
            </a:endParaRPr>
          </a:p>
          <a:p>
            <a:endParaRPr lang="en-IN" dirty="0"/>
          </a:p>
        </p:txBody>
      </p:sp>
      <p:sp>
        <p:nvSpPr>
          <p:cNvPr id="5" name="TextBox 4">
            <a:extLst>
              <a:ext uri="{FF2B5EF4-FFF2-40B4-BE49-F238E27FC236}">
                <a16:creationId xmlns:a16="http://schemas.microsoft.com/office/drawing/2014/main" id="{7CAA9348-59F9-F682-78C8-FF3E71851769}"/>
              </a:ext>
            </a:extLst>
          </p:cNvPr>
          <p:cNvSpPr txBox="1"/>
          <p:nvPr/>
        </p:nvSpPr>
        <p:spPr>
          <a:xfrm>
            <a:off x="2417779" y="1720645"/>
            <a:ext cx="8637073" cy="1704569"/>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TEAM ID :  </a:t>
            </a:r>
            <a:r>
              <a:rPr lang="en-IN" b="1" dirty="0">
                <a:latin typeface="Times New Roman" panose="02020603050405020304" pitchFamily="18" charset="0"/>
                <a:cs typeface="Times New Roman" panose="02020603050405020304" pitchFamily="18" charset="0"/>
              </a:rPr>
              <a:t>69abe446c56c6704599a7a3d</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TEAM SIZE : 1</a:t>
            </a:r>
          </a:p>
          <a:p>
            <a:pPr>
              <a:lnSpc>
                <a:spcPct val="150000"/>
              </a:lnSpc>
            </a:pPr>
            <a:r>
              <a:rPr lang="en-US" b="1">
                <a:latin typeface="Times New Roman" panose="02020603050405020304" pitchFamily="18" charset="0"/>
                <a:cs typeface="Times New Roman" panose="02020603050405020304" pitchFamily="18" charset="0"/>
              </a:rPr>
              <a:t>TEAM NUMBER : 25</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TEAM LEADER : JAYACHANDRAN H</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4378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7569F-4567-83E4-55D1-5DC141EDA138}"/>
              </a:ext>
            </a:extLst>
          </p:cNvPr>
          <p:cNvSpPr>
            <a:spLocks noGrp="1"/>
          </p:cNvSpPr>
          <p:nvPr>
            <p:ph type="title"/>
          </p:nvPr>
        </p:nvSpPr>
        <p:spPr/>
        <p:txBody>
          <a:bodyPr/>
          <a:lstStyle/>
          <a:p>
            <a:r>
              <a:rPr lang="en-US" b="1" dirty="0">
                <a:solidFill>
                  <a:srgbClr val="F94CAF"/>
                </a:solidFill>
                <a:latin typeface="Inconsolata Bold" pitchFamily="34" charset="0"/>
                <a:ea typeface="Inconsolata Bold" pitchFamily="34" charset="-122"/>
                <a:cs typeface="Inconsolata Bold" pitchFamily="34" charset="-120"/>
              </a:rPr>
              <a:t>Project Overview</a:t>
            </a:r>
            <a:endParaRPr lang="en-IN" dirty="0"/>
          </a:p>
        </p:txBody>
      </p:sp>
      <p:sp>
        <p:nvSpPr>
          <p:cNvPr id="3" name="Content Placeholder 2">
            <a:extLst>
              <a:ext uri="{FF2B5EF4-FFF2-40B4-BE49-F238E27FC236}">
                <a16:creationId xmlns:a16="http://schemas.microsoft.com/office/drawing/2014/main" id="{B106E7AE-BA91-7FC8-00D6-6349DDD2EE9E}"/>
              </a:ext>
            </a:extLst>
          </p:cNvPr>
          <p:cNvSpPr>
            <a:spLocks noGrp="1"/>
          </p:cNvSpPr>
          <p:nvPr>
            <p:ph idx="1"/>
          </p:nvPr>
        </p:nvSpPr>
        <p:spPr>
          <a:xfrm>
            <a:off x="1451579" y="2015732"/>
            <a:ext cx="4811569" cy="2674255"/>
          </a:xfrm>
        </p:spPr>
        <p:txBody>
          <a:bodyPr>
            <a:normAutofit/>
          </a:bodyPr>
          <a:lstStyle/>
          <a:p>
            <a:pPr marL="0" indent="0">
              <a:buNone/>
            </a:pPr>
            <a:r>
              <a:rPr lang="en-US" b="1" dirty="0">
                <a:solidFill>
                  <a:srgbClr val="F94CAF"/>
                </a:solidFill>
                <a:latin typeface="Inconsolata Bold" pitchFamily="34" charset="0"/>
                <a:ea typeface="Inconsolata Bold" pitchFamily="34" charset="-122"/>
                <a:cs typeface="Inconsolata Bold" pitchFamily="34" charset="-120"/>
              </a:rPr>
              <a:t>Core Concept</a:t>
            </a:r>
          </a:p>
          <a:p>
            <a:pPr marL="0" indent="0">
              <a:buNone/>
            </a:pPr>
            <a:r>
              <a:rPr lang="en-US" sz="1600" dirty="0">
                <a:solidFill>
                  <a:schemeClr val="tx1">
                    <a:lumMod val="95000"/>
                    <a:lumOff val="5000"/>
                  </a:schemeClr>
                </a:solidFill>
                <a:latin typeface="Fira Sans" pitchFamily="34" charset="0"/>
                <a:ea typeface="Fira Sans" pitchFamily="34" charset="-122"/>
                <a:cs typeface="Fira Sans" pitchFamily="34" charset="-120"/>
              </a:rPr>
              <a:t>Kitchen Vision is an intelligent cooking assistance application developed using Python and </a:t>
            </a:r>
            <a:r>
              <a:rPr lang="en-US" sz="1600" dirty="0" err="1">
                <a:solidFill>
                  <a:schemeClr val="tx1">
                    <a:lumMod val="95000"/>
                    <a:lumOff val="5000"/>
                  </a:schemeClr>
                </a:solidFill>
                <a:latin typeface="Fira Sans" pitchFamily="34" charset="0"/>
                <a:ea typeface="Fira Sans" pitchFamily="34" charset="-122"/>
                <a:cs typeface="Fira Sans" pitchFamily="34" charset="-120"/>
              </a:rPr>
              <a:t>Streamlit</a:t>
            </a:r>
            <a:r>
              <a:rPr lang="en-US" sz="1600" dirty="0">
                <a:solidFill>
                  <a:schemeClr val="tx1">
                    <a:lumMod val="95000"/>
                    <a:lumOff val="5000"/>
                  </a:schemeClr>
                </a:solidFill>
                <a:latin typeface="Fira Sans" pitchFamily="34" charset="0"/>
                <a:ea typeface="Fira Sans" pitchFamily="34" charset="-122"/>
                <a:cs typeface="Fira Sans" pitchFamily="34" charset="-120"/>
              </a:rPr>
              <a:t> framework. The system analyses pantry images using computer vision and AI techniques to generate practical cooking insights.</a:t>
            </a:r>
            <a:endParaRPr lang="en-US" sz="1600" dirty="0">
              <a:solidFill>
                <a:schemeClr val="tx1">
                  <a:lumMod val="95000"/>
                  <a:lumOff val="5000"/>
                </a:schemeClr>
              </a:solidFill>
            </a:endParaRPr>
          </a:p>
          <a:p>
            <a:pPr marL="0" indent="0">
              <a:buNone/>
            </a:pPr>
            <a:endParaRPr lang="en-US" dirty="0"/>
          </a:p>
        </p:txBody>
      </p:sp>
      <p:sp>
        <p:nvSpPr>
          <p:cNvPr id="5" name="TextBox 4">
            <a:extLst>
              <a:ext uri="{FF2B5EF4-FFF2-40B4-BE49-F238E27FC236}">
                <a16:creationId xmlns:a16="http://schemas.microsoft.com/office/drawing/2014/main" id="{8724315A-3F8D-89C7-C4F5-52A4F46C769A}"/>
              </a:ext>
            </a:extLst>
          </p:cNvPr>
          <p:cNvSpPr txBox="1"/>
          <p:nvPr/>
        </p:nvSpPr>
        <p:spPr>
          <a:xfrm>
            <a:off x="6971071" y="2123768"/>
            <a:ext cx="3224981" cy="923330"/>
          </a:xfrm>
          <a:prstGeom prst="rect">
            <a:avLst/>
          </a:prstGeom>
          <a:noFill/>
        </p:spPr>
        <p:txBody>
          <a:bodyPr wrap="square" rtlCol="0">
            <a:spAutoFit/>
          </a:bodyPr>
          <a:lstStyle/>
          <a:p>
            <a:r>
              <a:rPr lang="en-US" b="1" dirty="0">
                <a:solidFill>
                  <a:srgbClr val="F94CAF"/>
                </a:solidFill>
                <a:latin typeface="Inconsolata Bold" pitchFamily="34" charset="0"/>
                <a:ea typeface="Inconsolata Bold" pitchFamily="34" charset="-122"/>
                <a:cs typeface="Inconsolata Bold" pitchFamily="34" charset="-120"/>
              </a:rPr>
              <a:t>Key Capabilities</a:t>
            </a:r>
          </a:p>
          <a:p>
            <a:endParaRPr lang="en-US" dirty="0"/>
          </a:p>
          <a:p>
            <a:endParaRPr lang="en-IN" dirty="0"/>
          </a:p>
        </p:txBody>
      </p:sp>
      <p:sp>
        <p:nvSpPr>
          <p:cNvPr id="6" name="TextBox 5">
            <a:extLst>
              <a:ext uri="{FF2B5EF4-FFF2-40B4-BE49-F238E27FC236}">
                <a16:creationId xmlns:a16="http://schemas.microsoft.com/office/drawing/2014/main" id="{2DD2AF3C-3536-AE4D-F2F7-215DDE554B8C}"/>
              </a:ext>
            </a:extLst>
          </p:cNvPr>
          <p:cNvSpPr txBox="1"/>
          <p:nvPr/>
        </p:nvSpPr>
        <p:spPr>
          <a:xfrm>
            <a:off x="6971071" y="2510963"/>
            <a:ext cx="3342967" cy="3716402"/>
          </a:xfrm>
          <a:prstGeom prst="rect">
            <a:avLst/>
          </a:prstGeom>
          <a:noFill/>
        </p:spPr>
        <p:txBody>
          <a:bodyPr wrap="square" rtlCol="0">
            <a:spAutoFit/>
          </a:bodyPr>
          <a:lstStyle/>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Upload pantry image for analysis</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Automatic food item detection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Smart recipe generation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Health scoring and nutrition evaluation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Grocery list and substitution suggestions</a:t>
            </a:r>
            <a:endParaRPr lang="en-US" sz="1600" dirty="0">
              <a:solidFill>
                <a:schemeClr val="tx1">
                  <a:lumMod val="95000"/>
                  <a:lumOff val="5000"/>
                </a:schemeClr>
              </a:solidFill>
            </a:endParaRPr>
          </a:p>
          <a:p>
            <a:endParaRPr lang="en-IN" sz="1600" dirty="0">
              <a:solidFill>
                <a:schemeClr val="tx1">
                  <a:lumMod val="95000"/>
                  <a:lumOff val="5000"/>
                </a:schemeClr>
              </a:solidFill>
            </a:endParaRPr>
          </a:p>
        </p:txBody>
      </p:sp>
    </p:spTree>
    <p:extLst>
      <p:ext uri="{BB962C8B-B14F-4D97-AF65-F5344CB8AC3E}">
        <p14:creationId xmlns:p14="http://schemas.microsoft.com/office/powerpoint/2010/main" val="3155966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8FFE-DFEC-6DBF-1922-0DA0B63AF584}"/>
              </a:ext>
            </a:extLst>
          </p:cNvPr>
          <p:cNvSpPr>
            <a:spLocks noGrp="1"/>
          </p:cNvSpPr>
          <p:nvPr>
            <p:ph type="title"/>
          </p:nvPr>
        </p:nvSpPr>
        <p:spPr/>
        <p:txBody>
          <a:bodyPr/>
          <a:lstStyle/>
          <a:p>
            <a:br>
              <a:rPr lang="en-US" dirty="0"/>
            </a:br>
            <a:endParaRPr lang="en-IN" dirty="0"/>
          </a:p>
        </p:txBody>
      </p:sp>
      <p:sp>
        <p:nvSpPr>
          <p:cNvPr id="3" name="Content Placeholder 2">
            <a:extLst>
              <a:ext uri="{FF2B5EF4-FFF2-40B4-BE49-F238E27FC236}">
                <a16:creationId xmlns:a16="http://schemas.microsoft.com/office/drawing/2014/main" id="{620FF220-8042-A1F9-286C-3733727825F6}"/>
              </a:ext>
            </a:extLst>
          </p:cNvPr>
          <p:cNvSpPr>
            <a:spLocks noGrp="1"/>
          </p:cNvSpPr>
          <p:nvPr>
            <p:ph idx="1"/>
          </p:nvPr>
        </p:nvSpPr>
        <p:spPr>
          <a:xfrm>
            <a:off x="127819" y="1853754"/>
            <a:ext cx="10927035" cy="3612591"/>
          </a:xfrm>
        </p:spPr>
        <p:txBody>
          <a:bodyPr/>
          <a:lstStyle/>
          <a:p>
            <a:pPr marL="0" indent="0">
              <a:buNone/>
            </a:pPr>
            <a:endParaRPr lang="en-IN" dirty="0"/>
          </a:p>
        </p:txBody>
      </p:sp>
      <p:sp>
        <p:nvSpPr>
          <p:cNvPr id="29" name="Text 0">
            <a:extLst>
              <a:ext uri="{FF2B5EF4-FFF2-40B4-BE49-F238E27FC236}">
                <a16:creationId xmlns:a16="http://schemas.microsoft.com/office/drawing/2014/main" id="{DE18B2BE-FA55-92CC-ADEC-6081ADE31ADD}"/>
              </a:ext>
            </a:extLst>
          </p:cNvPr>
          <p:cNvSpPr/>
          <p:nvPr/>
        </p:nvSpPr>
        <p:spPr>
          <a:xfrm>
            <a:off x="793790" y="977741"/>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accent2"/>
                </a:solidFill>
                <a:latin typeface="Inconsolata Bold" pitchFamily="34" charset="0"/>
                <a:ea typeface="Inconsolata Bold" pitchFamily="34" charset="-122"/>
                <a:cs typeface="Inconsolata Bold" pitchFamily="34" charset="-120"/>
              </a:rPr>
              <a:t>System</a:t>
            </a:r>
            <a:r>
              <a:rPr lang="en-US" sz="445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4450" b="1" dirty="0">
                <a:solidFill>
                  <a:schemeClr val="accent2"/>
                </a:solidFill>
                <a:latin typeface="Inconsolata Bold" pitchFamily="34" charset="0"/>
                <a:ea typeface="Inconsolata Bold" pitchFamily="34" charset="-122"/>
                <a:cs typeface="Inconsolata Bold" pitchFamily="34" charset="-120"/>
              </a:rPr>
              <a:t>Architecture</a:t>
            </a:r>
            <a:endParaRPr lang="en-US" sz="4450" dirty="0">
              <a:solidFill>
                <a:schemeClr val="accent2"/>
              </a:solidFill>
            </a:endParaRPr>
          </a:p>
        </p:txBody>
      </p:sp>
      <p:sp>
        <p:nvSpPr>
          <p:cNvPr id="30" name="Text 1">
            <a:extLst>
              <a:ext uri="{FF2B5EF4-FFF2-40B4-BE49-F238E27FC236}">
                <a16:creationId xmlns:a16="http://schemas.microsoft.com/office/drawing/2014/main" id="{069B2B28-B435-0AC8-8FB4-2AB9E132EFE9}"/>
              </a:ext>
            </a:extLst>
          </p:cNvPr>
          <p:cNvSpPr/>
          <p:nvPr/>
        </p:nvSpPr>
        <p:spPr>
          <a:xfrm>
            <a:off x="793788" y="215355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01</a:t>
            </a:r>
            <a:endParaRPr lang="en-US" sz="1750" dirty="0">
              <a:solidFill>
                <a:schemeClr val="tx1">
                  <a:lumMod val="95000"/>
                  <a:lumOff val="5000"/>
                </a:schemeClr>
              </a:solidFill>
            </a:endParaRPr>
          </a:p>
        </p:txBody>
      </p:sp>
      <p:pic>
        <p:nvPicPr>
          <p:cNvPr id="31" name="Image 0" descr="preencoded.png">
            <a:extLst>
              <a:ext uri="{FF2B5EF4-FFF2-40B4-BE49-F238E27FC236}">
                <a16:creationId xmlns:a16="http://schemas.microsoft.com/office/drawing/2014/main" id="{E75F5AD2-D5ED-7ACF-F813-EB5011D5368E}"/>
              </a:ext>
            </a:extLst>
          </p:cNvPr>
          <p:cNvPicPr>
            <a:picLocks noChangeAspect="1"/>
          </p:cNvPicPr>
          <p:nvPr/>
        </p:nvPicPr>
        <p:blipFill>
          <a:blip r:embed="rId2"/>
          <a:stretch>
            <a:fillRect/>
          </a:stretch>
        </p:blipFill>
        <p:spPr>
          <a:xfrm>
            <a:off x="793790" y="2495193"/>
            <a:ext cx="6407944" cy="30480"/>
          </a:xfrm>
          <a:prstGeom prst="rect">
            <a:avLst/>
          </a:prstGeom>
        </p:spPr>
      </p:pic>
      <p:sp>
        <p:nvSpPr>
          <p:cNvPr id="32" name="Text 2">
            <a:extLst>
              <a:ext uri="{FF2B5EF4-FFF2-40B4-BE49-F238E27FC236}">
                <a16:creationId xmlns:a16="http://schemas.microsoft.com/office/drawing/2014/main" id="{8E6DA9C6-B991-A905-9DDC-0056BE87FE94}"/>
              </a:ext>
            </a:extLst>
          </p:cNvPr>
          <p:cNvSpPr/>
          <p:nvPr/>
        </p:nvSpPr>
        <p:spPr>
          <a:xfrm>
            <a:off x="793789" y="2434169"/>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Frontend Interface</a:t>
            </a:r>
            <a:endParaRPr lang="en-US" sz="2200" dirty="0">
              <a:solidFill>
                <a:schemeClr val="tx1">
                  <a:lumMod val="95000"/>
                  <a:lumOff val="5000"/>
                </a:schemeClr>
              </a:solidFill>
            </a:endParaRPr>
          </a:p>
        </p:txBody>
      </p:sp>
      <p:sp>
        <p:nvSpPr>
          <p:cNvPr id="33" name="Text 3">
            <a:extLst>
              <a:ext uri="{FF2B5EF4-FFF2-40B4-BE49-F238E27FC236}">
                <a16:creationId xmlns:a16="http://schemas.microsoft.com/office/drawing/2014/main" id="{FAC5FCF7-1C09-E3F6-B677-0023892581D1}"/>
              </a:ext>
            </a:extLst>
          </p:cNvPr>
          <p:cNvSpPr/>
          <p:nvPr/>
        </p:nvSpPr>
        <p:spPr>
          <a:xfrm>
            <a:off x="793789" y="2714864"/>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Streamlit-based UI for image upload and results display</a:t>
            </a:r>
            <a:endParaRPr lang="en-US" sz="1750" dirty="0">
              <a:solidFill>
                <a:schemeClr val="tx1">
                  <a:lumMod val="95000"/>
                  <a:lumOff val="5000"/>
                </a:schemeClr>
              </a:solidFill>
            </a:endParaRPr>
          </a:p>
        </p:txBody>
      </p:sp>
      <p:sp>
        <p:nvSpPr>
          <p:cNvPr id="34" name="Text 4">
            <a:extLst>
              <a:ext uri="{FF2B5EF4-FFF2-40B4-BE49-F238E27FC236}">
                <a16:creationId xmlns:a16="http://schemas.microsoft.com/office/drawing/2014/main" id="{FB20BA54-288C-66FE-487B-3907506CF5D3}"/>
              </a:ext>
            </a:extLst>
          </p:cNvPr>
          <p:cNvSpPr/>
          <p:nvPr/>
        </p:nvSpPr>
        <p:spPr>
          <a:xfrm>
            <a:off x="7428548" y="2140148"/>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02</a:t>
            </a:r>
            <a:endParaRPr lang="en-US" sz="1750" dirty="0">
              <a:solidFill>
                <a:schemeClr val="tx1">
                  <a:lumMod val="95000"/>
                  <a:lumOff val="5000"/>
                </a:schemeClr>
              </a:solidFill>
            </a:endParaRPr>
          </a:p>
        </p:txBody>
      </p:sp>
      <p:pic>
        <p:nvPicPr>
          <p:cNvPr id="35" name="Image 1" descr="preencoded.png">
            <a:extLst>
              <a:ext uri="{FF2B5EF4-FFF2-40B4-BE49-F238E27FC236}">
                <a16:creationId xmlns:a16="http://schemas.microsoft.com/office/drawing/2014/main" id="{52B347FE-70D1-DDB1-557F-87CEE1F92646}"/>
              </a:ext>
            </a:extLst>
          </p:cNvPr>
          <p:cNvPicPr>
            <a:picLocks noChangeAspect="1"/>
          </p:cNvPicPr>
          <p:nvPr/>
        </p:nvPicPr>
        <p:blipFill>
          <a:blip r:embed="rId2"/>
          <a:stretch>
            <a:fillRect/>
          </a:stretch>
        </p:blipFill>
        <p:spPr>
          <a:xfrm>
            <a:off x="7428548" y="2495193"/>
            <a:ext cx="6408063" cy="30480"/>
          </a:xfrm>
          <a:prstGeom prst="rect">
            <a:avLst/>
          </a:prstGeom>
        </p:spPr>
      </p:pic>
      <p:sp>
        <p:nvSpPr>
          <p:cNvPr id="36" name="Text 5">
            <a:extLst>
              <a:ext uri="{FF2B5EF4-FFF2-40B4-BE49-F238E27FC236}">
                <a16:creationId xmlns:a16="http://schemas.microsoft.com/office/drawing/2014/main" id="{32512583-46DF-6745-FB99-1536DE5AA62A}"/>
              </a:ext>
            </a:extLst>
          </p:cNvPr>
          <p:cNvSpPr/>
          <p:nvPr/>
        </p:nvSpPr>
        <p:spPr>
          <a:xfrm>
            <a:off x="7428547" y="24724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Image Processing</a:t>
            </a:r>
            <a:endParaRPr lang="en-US" sz="2200" dirty="0">
              <a:solidFill>
                <a:schemeClr val="tx1">
                  <a:lumMod val="95000"/>
                  <a:lumOff val="5000"/>
                </a:schemeClr>
              </a:solidFill>
            </a:endParaRPr>
          </a:p>
        </p:txBody>
      </p:sp>
      <p:sp>
        <p:nvSpPr>
          <p:cNvPr id="37" name="Text 6">
            <a:extLst>
              <a:ext uri="{FF2B5EF4-FFF2-40B4-BE49-F238E27FC236}">
                <a16:creationId xmlns:a16="http://schemas.microsoft.com/office/drawing/2014/main" id="{8B95FE1C-755F-ED1D-122E-14F8059E288E}"/>
              </a:ext>
            </a:extLst>
          </p:cNvPr>
          <p:cNvSpPr/>
          <p:nvPr/>
        </p:nvSpPr>
        <p:spPr>
          <a:xfrm>
            <a:off x="7428547" y="2795884"/>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Enhancement, resizing, and preprocessing</a:t>
            </a:r>
            <a:endParaRPr lang="en-US" sz="1750" dirty="0">
              <a:solidFill>
                <a:schemeClr val="tx1">
                  <a:lumMod val="95000"/>
                  <a:lumOff val="5000"/>
                </a:schemeClr>
              </a:solidFill>
            </a:endParaRPr>
          </a:p>
        </p:txBody>
      </p:sp>
      <p:sp>
        <p:nvSpPr>
          <p:cNvPr id="38" name="Text 7">
            <a:extLst>
              <a:ext uri="{FF2B5EF4-FFF2-40B4-BE49-F238E27FC236}">
                <a16:creationId xmlns:a16="http://schemas.microsoft.com/office/drawing/2014/main" id="{4AD864A2-E15E-A153-FC68-7BC0DEE93627}"/>
              </a:ext>
            </a:extLst>
          </p:cNvPr>
          <p:cNvSpPr/>
          <p:nvPr/>
        </p:nvSpPr>
        <p:spPr>
          <a:xfrm>
            <a:off x="793790" y="3202699"/>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03</a:t>
            </a:r>
            <a:endParaRPr lang="en-US" sz="1750" dirty="0">
              <a:solidFill>
                <a:schemeClr val="tx1">
                  <a:lumMod val="95000"/>
                  <a:lumOff val="5000"/>
                </a:schemeClr>
              </a:solidFill>
            </a:endParaRPr>
          </a:p>
        </p:txBody>
      </p:sp>
      <p:pic>
        <p:nvPicPr>
          <p:cNvPr id="39" name="Image 2" descr="preencoded.png">
            <a:extLst>
              <a:ext uri="{FF2B5EF4-FFF2-40B4-BE49-F238E27FC236}">
                <a16:creationId xmlns:a16="http://schemas.microsoft.com/office/drawing/2014/main" id="{AFE7E4FF-43DF-5C3D-DB70-A23A54F390CD}"/>
              </a:ext>
            </a:extLst>
          </p:cNvPr>
          <p:cNvPicPr>
            <a:picLocks noChangeAspect="1"/>
          </p:cNvPicPr>
          <p:nvPr/>
        </p:nvPicPr>
        <p:blipFill>
          <a:blip r:embed="rId2"/>
          <a:stretch>
            <a:fillRect/>
          </a:stretch>
        </p:blipFill>
        <p:spPr>
          <a:xfrm>
            <a:off x="793790" y="4251960"/>
            <a:ext cx="6407944" cy="30480"/>
          </a:xfrm>
          <a:prstGeom prst="rect">
            <a:avLst/>
          </a:prstGeom>
        </p:spPr>
      </p:pic>
      <p:sp>
        <p:nvSpPr>
          <p:cNvPr id="40" name="Text 8">
            <a:extLst>
              <a:ext uri="{FF2B5EF4-FFF2-40B4-BE49-F238E27FC236}">
                <a16:creationId xmlns:a16="http://schemas.microsoft.com/office/drawing/2014/main" id="{13015AF0-1A04-955B-752C-209A9F2DEAD0}"/>
              </a:ext>
            </a:extLst>
          </p:cNvPr>
          <p:cNvSpPr/>
          <p:nvPr/>
        </p:nvSpPr>
        <p:spPr>
          <a:xfrm>
            <a:off x="793789" y="3504448"/>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Vision Service</a:t>
            </a:r>
            <a:endParaRPr lang="en-US" sz="2200" dirty="0">
              <a:solidFill>
                <a:schemeClr val="tx1">
                  <a:lumMod val="95000"/>
                  <a:lumOff val="5000"/>
                </a:schemeClr>
              </a:solidFill>
            </a:endParaRPr>
          </a:p>
        </p:txBody>
      </p:sp>
      <p:sp>
        <p:nvSpPr>
          <p:cNvPr id="41" name="Text 9">
            <a:extLst>
              <a:ext uri="{FF2B5EF4-FFF2-40B4-BE49-F238E27FC236}">
                <a16:creationId xmlns:a16="http://schemas.microsoft.com/office/drawing/2014/main" id="{091A0C73-ACA3-E44A-07EA-7299B9E52866}"/>
              </a:ext>
            </a:extLst>
          </p:cNvPr>
          <p:cNvSpPr/>
          <p:nvPr/>
        </p:nvSpPr>
        <p:spPr>
          <a:xfrm>
            <a:off x="825084" y="3837734"/>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AI-powered pantry item detection</a:t>
            </a:r>
            <a:endParaRPr lang="en-US" sz="1750" dirty="0">
              <a:solidFill>
                <a:schemeClr val="tx1">
                  <a:lumMod val="95000"/>
                  <a:lumOff val="5000"/>
                </a:schemeClr>
              </a:solidFill>
            </a:endParaRPr>
          </a:p>
        </p:txBody>
      </p:sp>
      <p:sp>
        <p:nvSpPr>
          <p:cNvPr id="42" name="Text 10">
            <a:extLst>
              <a:ext uri="{FF2B5EF4-FFF2-40B4-BE49-F238E27FC236}">
                <a16:creationId xmlns:a16="http://schemas.microsoft.com/office/drawing/2014/main" id="{F26CFB88-7764-583E-8FF5-15DDE2F9D20C}"/>
              </a:ext>
            </a:extLst>
          </p:cNvPr>
          <p:cNvSpPr/>
          <p:nvPr/>
        </p:nvSpPr>
        <p:spPr>
          <a:xfrm>
            <a:off x="7458657" y="3300562"/>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04</a:t>
            </a:r>
            <a:endParaRPr lang="en-US" sz="1750" dirty="0">
              <a:solidFill>
                <a:schemeClr val="tx1">
                  <a:lumMod val="95000"/>
                  <a:lumOff val="5000"/>
                </a:schemeClr>
              </a:solidFill>
            </a:endParaRPr>
          </a:p>
        </p:txBody>
      </p:sp>
      <p:pic>
        <p:nvPicPr>
          <p:cNvPr id="43" name="Image 3" descr="preencoded.png">
            <a:extLst>
              <a:ext uri="{FF2B5EF4-FFF2-40B4-BE49-F238E27FC236}">
                <a16:creationId xmlns:a16="http://schemas.microsoft.com/office/drawing/2014/main" id="{29D12B32-2F2B-49FD-7673-B62225C150E1}"/>
              </a:ext>
            </a:extLst>
          </p:cNvPr>
          <p:cNvPicPr>
            <a:picLocks noChangeAspect="1"/>
          </p:cNvPicPr>
          <p:nvPr/>
        </p:nvPicPr>
        <p:blipFill>
          <a:blip r:embed="rId2"/>
          <a:stretch>
            <a:fillRect/>
          </a:stretch>
        </p:blipFill>
        <p:spPr>
          <a:xfrm>
            <a:off x="7428548" y="4251960"/>
            <a:ext cx="6408063" cy="30480"/>
          </a:xfrm>
          <a:prstGeom prst="rect">
            <a:avLst/>
          </a:prstGeom>
        </p:spPr>
      </p:pic>
      <p:sp>
        <p:nvSpPr>
          <p:cNvPr id="44" name="Text 11">
            <a:extLst>
              <a:ext uri="{FF2B5EF4-FFF2-40B4-BE49-F238E27FC236}">
                <a16:creationId xmlns:a16="http://schemas.microsoft.com/office/drawing/2014/main" id="{6EBBDB5D-1161-4B6F-0DA4-D99085D73B07}"/>
              </a:ext>
            </a:extLst>
          </p:cNvPr>
          <p:cNvSpPr/>
          <p:nvPr/>
        </p:nvSpPr>
        <p:spPr>
          <a:xfrm>
            <a:off x="7424580" y="35723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Categorization</a:t>
            </a:r>
            <a:endParaRPr lang="en-US" sz="2200" dirty="0">
              <a:solidFill>
                <a:schemeClr val="tx1">
                  <a:lumMod val="95000"/>
                  <a:lumOff val="5000"/>
                </a:schemeClr>
              </a:solidFill>
            </a:endParaRPr>
          </a:p>
        </p:txBody>
      </p:sp>
      <p:sp>
        <p:nvSpPr>
          <p:cNvPr id="45" name="Text 12">
            <a:extLst>
              <a:ext uri="{FF2B5EF4-FFF2-40B4-BE49-F238E27FC236}">
                <a16:creationId xmlns:a16="http://schemas.microsoft.com/office/drawing/2014/main" id="{B9A641AC-B305-D6E7-9138-F2F2D9BC08FA}"/>
              </a:ext>
            </a:extLst>
          </p:cNvPr>
          <p:cNvSpPr/>
          <p:nvPr/>
        </p:nvSpPr>
        <p:spPr>
          <a:xfrm>
            <a:off x="7424580" y="3869058"/>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Storage type classification</a:t>
            </a:r>
            <a:endParaRPr lang="en-US" sz="1750" dirty="0">
              <a:solidFill>
                <a:schemeClr val="tx1">
                  <a:lumMod val="95000"/>
                  <a:lumOff val="5000"/>
                </a:schemeClr>
              </a:solidFill>
            </a:endParaRPr>
          </a:p>
        </p:txBody>
      </p:sp>
      <p:sp>
        <p:nvSpPr>
          <p:cNvPr id="46" name="Text 13">
            <a:extLst>
              <a:ext uri="{FF2B5EF4-FFF2-40B4-BE49-F238E27FC236}">
                <a16:creationId xmlns:a16="http://schemas.microsoft.com/office/drawing/2014/main" id="{162D016F-DD8F-8A67-F591-F5F8AA5697E8}"/>
              </a:ext>
            </a:extLst>
          </p:cNvPr>
          <p:cNvSpPr/>
          <p:nvPr/>
        </p:nvSpPr>
        <p:spPr>
          <a:xfrm>
            <a:off x="825084" y="4261790"/>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05</a:t>
            </a:r>
            <a:endParaRPr lang="en-US" sz="1750" dirty="0">
              <a:solidFill>
                <a:schemeClr val="tx1">
                  <a:lumMod val="95000"/>
                  <a:lumOff val="5000"/>
                </a:schemeClr>
              </a:solidFill>
            </a:endParaRPr>
          </a:p>
        </p:txBody>
      </p:sp>
      <p:pic>
        <p:nvPicPr>
          <p:cNvPr id="47" name="Image 4" descr="preencoded.png">
            <a:extLst>
              <a:ext uri="{FF2B5EF4-FFF2-40B4-BE49-F238E27FC236}">
                <a16:creationId xmlns:a16="http://schemas.microsoft.com/office/drawing/2014/main" id="{C5D44388-6B6D-2BE6-F480-126C228326A5}"/>
              </a:ext>
            </a:extLst>
          </p:cNvPr>
          <p:cNvPicPr>
            <a:picLocks noChangeAspect="1"/>
          </p:cNvPicPr>
          <p:nvPr/>
        </p:nvPicPr>
        <p:blipFill>
          <a:blip r:embed="rId2"/>
          <a:stretch>
            <a:fillRect/>
          </a:stretch>
        </p:blipFill>
        <p:spPr>
          <a:xfrm>
            <a:off x="793789" y="5301195"/>
            <a:ext cx="6407944" cy="30480"/>
          </a:xfrm>
          <a:prstGeom prst="rect">
            <a:avLst/>
          </a:prstGeom>
        </p:spPr>
      </p:pic>
      <p:sp>
        <p:nvSpPr>
          <p:cNvPr id="48" name="Text 14">
            <a:extLst>
              <a:ext uri="{FF2B5EF4-FFF2-40B4-BE49-F238E27FC236}">
                <a16:creationId xmlns:a16="http://schemas.microsoft.com/office/drawing/2014/main" id="{6625E143-B112-1DA7-31F8-35477580AE63}"/>
              </a:ext>
            </a:extLst>
          </p:cNvPr>
          <p:cNvSpPr/>
          <p:nvPr/>
        </p:nvSpPr>
        <p:spPr>
          <a:xfrm>
            <a:off x="825084" y="45672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Recipe Generation</a:t>
            </a:r>
            <a:endParaRPr lang="en-US" sz="2200" dirty="0">
              <a:solidFill>
                <a:schemeClr val="tx1">
                  <a:lumMod val="95000"/>
                  <a:lumOff val="5000"/>
                </a:schemeClr>
              </a:solidFill>
            </a:endParaRPr>
          </a:p>
        </p:txBody>
      </p:sp>
      <p:sp>
        <p:nvSpPr>
          <p:cNvPr id="49" name="Text 15">
            <a:extLst>
              <a:ext uri="{FF2B5EF4-FFF2-40B4-BE49-F238E27FC236}">
                <a16:creationId xmlns:a16="http://schemas.microsoft.com/office/drawing/2014/main" id="{801BDAF0-341D-4511-8EC1-49CC3EB0464E}"/>
              </a:ext>
            </a:extLst>
          </p:cNvPr>
          <p:cNvSpPr/>
          <p:nvPr/>
        </p:nvSpPr>
        <p:spPr>
          <a:xfrm>
            <a:off x="825084" y="4903731"/>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Three-step recipes with instructions</a:t>
            </a:r>
            <a:endParaRPr lang="en-US" sz="1750" dirty="0">
              <a:solidFill>
                <a:schemeClr val="tx1">
                  <a:lumMod val="95000"/>
                  <a:lumOff val="5000"/>
                </a:schemeClr>
              </a:solidFill>
            </a:endParaRPr>
          </a:p>
        </p:txBody>
      </p:sp>
      <p:sp>
        <p:nvSpPr>
          <p:cNvPr id="50" name="Text 16">
            <a:extLst>
              <a:ext uri="{FF2B5EF4-FFF2-40B4-BE49-F238E27FC236}">
                <a16:creationId xmlns:a16="http://schemas.microsoft.com/office/drawing/2014/main" id="{B016F2A6-B320-4E5B-008F-F0F92E87AEA4}"/>
              </a:ext>
            </a:extLst>
          </p:cNvPr>
          <p:cNvSpPr/>
          <p:nvPr/>
        </p:nvSpPr>
        <p:spPr>
          <a:xfrm>
            <a:off x="7428548" y="434024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06</a:t>
            </a:r>
            <a:endParaRPr lang="en-US" sz="1750" dirty="0">
              <a:solidFill>
                <a:schemeClr val="tx1">
                  <a:lumMod val="95000"/>
                  <a:lumOff val="5000"/>
                </a:schemeClr>
              </a:solidFill>
            </a:endParaRPr>
          </a:p>
        </p:txBody>
      </p:sp>
      <p:pic>
        <p:nvPicPr>
          <p:cNvPr id="51" name="Image 5" descr="preencoded.png">
            <a:extLst>
              <a:ext uri="{FF2B5EF4-FFF2-40B4-BE49-F238E27FC236}">
                <a16:creationId xmlns:a16="http://schemas.microsoft.com/office/drawing/2014/main" id="{A9B0943A-907E-D1A2-7307-3BB50CEB742B}"/>
              </a:ext>
            </a:extLst>
          </p:cNvPr>
          <p:cNvPicPr>
            <a:picLocks noChangeAspect="1"/>
          </p:cNvPicPr>
          <p:nvPr/>
        </p:nvPicPr>
        <p:blipFill>
          <a:blip r:embed="rId2"/>
          <a:stretch>
            <a:fillRect/>
          </a:stretch>
        </p:blipFill>
        <p:spPr>
          <a:xfrm>
            <a:off x="7428548" y="6008846"/>
            <a:ext cx="6408063" cy="30480"/>
          </a:xfrm>
          <a:prstGeom prst="rect">
            <a:avLst/>
          </a:prstGeom>
        </p:spPr>
      </p:pic>
      <p:sp>
        <p:nvSpPr>
          <p:cNvPr id="52" name="Text 17">
            <a:extLst>
              <a:ext uri="{FF2B5EF4-FFF2-40B4-BE49-F238E27FC236}">
                <a16:creationId xmlns:a16="http://schemas.microsoft.com/office/drawing/2014/main" id="{B69DA028-FF5E-ECE4-CCA3-D3F76593E05C}"/>
              </a:ext>
            </a:extLst>
          </p:cNvPr>
          <p:cNvSpPr/>
          <p:nvPr/>
        </p:nvSpPr>
        <p:spPr>
          <a:xfrm>
            <a:off x="7424580" y="4665524"/>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Health Evaluation</a:t>
            </a:r>
            <a:endParaRPr lang="en-US" sz="2200" dirty="0">
              <a:solidFill>
                <a:schemeClr val="tx1">
                  <a:lumMod val="95000"/>
                  <a:lumOff val="5000"/>
                </a:schemeClr>
              </a:solidFill>
            </a:endParaRPr>
          </a:p>
        </p:txBody>
      </p:sp>
      <p:sp>
        <p:nvSpPr>
          <p:cNvPr id="53" name="Text 18">
            <a:extLst>
              <a:ext uri="{FF2B5EF4-FFF2-40B4-BE49-F238E27FC236}">
                <a16:creationId xmlns:a16="http://schemas.microsoft.com/office/drawing/2014/main" id="{01E9C788-2163-10FC-C7F2-DF08F27D9DC9}"/>
              </a:ext>
            </a:extLst>
          </p:cNvPr>
          <p:cNvSpPr/>
          <p:nvPr/>
        </p:nvSpPr>
        <p:spPr>
          <a:xfrm>
            <a:off x="7393285" y="4984782"/>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Nutritional scoring and analysis</a:t>
            </a:r>
            <a:endParaRPr lang="en-US" sz="1750" dirty="0">
              <a:solidFill>
                <a:schemeClr val="tx1">
                  <a:lumMod val="95000"/>
                  <a:lumOff val="5000"/>
                </a:schemeClr>
              </a:solidFill>
            </a:endParaRPr>
          </a:p>
        </p:txBody>
      </p:sp>
    </p:spTree>
    <p:extLst>
      <p:ext uri="{BB962C8B-B14F-4D97-AF65-F5344CB8AC3E}">
        <p14:creationId xmlns:p14="http://schemas.microsoft.com/office/powerpoint/2010/main" val="942952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407A23E-A452-3D1A-9F23-0C6E3772DE23}"/>
              </a:ext>
            </a:extLst>
          </p:cNvPr>
          <p:cNvSpPr/>
          <p:nvPr/>
        </p:nvSpPr>
        <p:spPr>
          <a:xfrm>
            <a:off x="616810" y="31081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Core Technologies</a:t>
            </a:r>
            <a:endParaRPr lang="en-US" sz="4450" dirty="0"/>
          </a:p>
        </p:txBody>
      </p:sp>
      <p:sp>
        <p:nvSpPr>
          <p:cNvPr id="4" name="Shape 1">
            <a:extLst>
              <a:ext uri="{FF2B5EF4-FFF2-40B4-BE49-F238E27FC236}">
                <a16:creationId xmlns:a16="http://schemas.microsoft.com/office/drawing/2014/main" id="{9B166A92-183B-5CB7-D06D-1F849679F0DF}"/>
              </a:ext>
            </a:extLst>
          </p:cNvPr>
          <p:cNvSpPr/>
          <p:nvPr/>
        </p:nvSpPr>
        <p:spPr>
          <a:xfrm>
            <a:off x="536497" y="1155679"/>
            <a:ext cx="4999064" cy="865834"/>
          </a:xfrm>
          <a:prstGeom prst="roundRect">
            <a:avLst>
              <a:gd name="adj" fmla="val 8453"/>
            </a:avLst>
          </a:prstGeom>
          <a:solidFill>
            <a:srgbClr val="241631"/>
          </a:solidFill>
          <a:ln w="30480">
            <a:solidFill>
              <a:srgbClr val="5C4E69"/>
            </a:solidFill>
            <a:prstDash val="solid"/>
          </a:ln>
        </p:spPr>
      </p:sp>
      <p:pic>
        <p:nvPicPr>
          <p:cNvPr id="5" name="Image 0" descr="preencoded.png">
            <a:extLst>
              <a:ext uri="{FF2B5EF4-FFF2-40B4-BE49-F238E27FC236}">
                <a16:creationId xmlns:a16="http://schemas.microsoft.com/office/drawing/2014/main" id="{CE237A95-C11E-E7B4-E45C-6BE3624E7571}"/>
              </a:ext>
            </a:extLst>
          </p:cNvPr>
          <p:cNvPicPr>
            <a:picLocks noChangeAspect="1"/>
          </p:cNvPicPr>
          <p:nvPr/>
        </p:nvPicPr>
        <p:blipFill>
          <a:blip r:embed="rId2"/>
          <a:stretch>
            <a:fillRect/>
          </a:stretch>
        </p:blipFill>
        <p:spPr>
          <a:xfrm>
            <a:off x="561321" y="1250868"/>
            <a:ext cx="45719" cy="649040"/>
          </a:xfrm>
          <a:prstGeom prst="rect">
            <a:avLst/>
          </a:prstGeom>
        </p:spPr>
      </p:pic>
      <p:sp>
        <p:nvSpPr>
          <p:cNvPr id="6" name="Text 2">
            <a:extLst>
              <a:ext uri="{FF2B5EF4-FFF2-40B4-BE49-F238E27FC236}">
                <a16:creationId xmlns:a16="http://schemas.microsoft.com/office/drawing/2014/main" id="{DEFF1CDC-B62B-9208-4D91-6B0F5D96D761}"/>
              </a:ext>
            </a:extLst>
          </p:cNvPr>
          <p:cNvSpPr/>
          <p:nvPr/>
        </p:nvSpPr>
        <p:spPr>
          <a:xfrm>
            <a:off x="697587" y="1215985"/>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Streamlit</a:t>
            </a:r>
            <a:endParaRPr lang="en-US" sz="1600" dirty="0"/>
          </a:p>
        </p:txBody>
      </p:sp>
      <p:sp>
        <p:nvSpPr>
          <p:cNvPr id="7" name="Text 3">
            <a:extLst>
              <a:ext uri="{FF2B5EF4-FFF2-40B4-BE49-F238E27FC236}">
                <a16:creationId xmlns:a16="http://schemas.microsoft.com/office/drawing/2014/main" id="{FC2A4A8B-3393-67B8-3ADB-09AFB5FFB709}"/>
              </a:ext>
            </a:extLst>
          </p:cNvPr>
          <p:cNvSpPr/>
          <p:nvPr/>
        </p:nvSpPr>
        <p:spPr>
          <a:xfrm>
            <a:off x="697587" y="1537006"/>
            <a:ext cx="5801916"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Frontend framework for </a:t>
            </a:r>
            <a:r>
              <a:rPr lang="en-US" sz="1400" dirty="0">
                <a:solidFill>
                  <a:srgbClr val="DAD1E6"/>
                </a:solidFill>
                <a:latin typeface="Fira Sans" pitchFamily="34" charset="0"/>
                <a:ea typeface="Fira Sans" pitchFamily="34" charset="-122"/>
                <a:cs typeface="Fira Sans" pitchFamily="34" charset="-120"/>
              </a:rPr>
              <a:t>interactive</a:t>
            </a:r>
            <a:r>
              <a:rPr lang="en-US" sz="1200" dirty="0">
                <a:solidFill>
                  <a:srgbClr val="DAD1E6"/>
                </a:solidFill>
                <a:latin typeface="Fira Sans" pitchFamily="34" charset="0"/>
                <a:ea typeface="Fira Sans" pitchFamily="34" charset="-122"/>
                <a:cs typeface="Fira Sans" pitchFamily="34" charset="-120"/>
              </a:rPr>
              <a:t> interface and result display</a:t>
            </a:r>
            <a:endParaRPr lang="en-US" sz="1200" dirty="0"/>
          </a:p>
        </p:txBody>
      </p:sp>
      <p:sp>
        <p:nvSpPr>
          <p:cNvPr id="8" name="Shape 4">
            <a:extLst>
              <a:ext uri="{FF2B5EF4-FFF2-40B4-BE49-F238E27FC236}">
                <a16:creationId xmlns:a16="http://schemas.microsoft.com/office/drawing/2014/main" id="{67E71CB3-0925-8956-6C8D-8A0DFE3059F5}"/>
              </a:ext>
            </a:extLst>
          </p:cNvPr>
          <p:cNvSpPr/>
          <p:nvPr/>
        </p:nvSpPr>
        <p:spPr>
          <a:xfrm>
            <a:off x="5919020" y="1084201"/>
            <a:ext cx="6176778" cy="970222"/>
          </a:xfrm>
          <a:prstGeom prst="roundRect">
            <a:avLst>
              <a:gd name="adj" fmla="val 8453"/>
            </a:avLst>
          </a:prstGeom>
          <a:solidFill>
            <a:srgbClr val="241631"/>
          </a:solidFill>
          <a:ln w="30480">
            <a:solidFill>
              <a:srgbClr val="5C4E69"/>
            </a:solidFill>
            <a:prstDash val="solid"/>
          </a:ln>
        </p:spPr>
      </p:sp>
      <p:pic>
        <p:nvPicPr>
          <p:cNvPr id="9" name="Image 1" descr="preencoded.png">
            <a:extLst>
              <a:ext uri="{FF2B5EF4-FFF2-40B4-BE49-F238E27FC236}">
                <a16:creationId xmlns:a16="http://schemas.microsoft.com/office/drawing/2014/main" id="{E003C7E0-4128-AA29-1BE0-542836293546}"/>
              </a:ext>
            </a:extLst>
          </p:cNvPr>
          <p:cNvPicPr>
            <a:picLocks noChangeAspect="1"/>
          </p:cNvPicPr>
          <p:nvPr/>
        </p:nvPicPr>
        <p:blipFill>
          <a:blip r:embed="rId2"/>
          <a:stretch>
            <a:fillRect/>
          </a:stretch>
        </p:blipFill>
        <p:spPr>
          <a:xfrm>
            <a:off x="5953082" y="1139246"/>
            <a:ext cx="61677" cy="875590"/>
          </a:xfrm>
          <a:prstGeom prst="rect">
            <a:avLst/>
          </a:prstGeom>
        </p:spPr>
      </p:pic>
      <p:sp>
        <p:nvSpPr>
          <p:cNvPr id="10" name="Text 5">
            <a:extLst>
              <a:ext uri="{FF2B5EF4-FFF2-40B4-BE49-F238E27FC236}">
                <a16:creationId xmlns:a16="http://schemas.microsoft.com/office/drawing/2014/main" id="{A0C2DD05-61C8-BE70-66C4-1A259D6AF38D}"/>
              </a:ext>
            </a:extLst>
          </p:cNvPr>
          <p:cNvSpPr/>
          <p:nvPr/>
        </p:nvSpPr>
        <p:spPr>
          <a:xfrm>
            <a:off x="6172174" y="1102083"/>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Python &amp; Pillow</a:t>
            </a:r>
            <a:endParaRPr lang="en-US" sz="1600" dirty="0"/>
          </a:p>
        </p:txBody>
      </p:sp>
      <p:sp>
        <p:nvSpPr>
          <p:cNvPr id="11" name="Text 6">
            <a:extLst>
              <a:ext uri="{FF2B5EF4-FFF2-40B4-BE49-F238E27FC236}">
                <a16:creationId xmlns:a16="http://schemas.microsoft.com/office/drawing/2014/main" id="{11C6B6AA-0C1D-4589-C391-35E5A3C55AB9}"/>
              </a:ext>
            </a:extLst>
          </p:cNvPr>
          <p:cNvSpPr/>
          <p:nvPr/>
        </p:nvSpPr>
        <p:spPr>
          <a:xfrm>
            <a:off x="6172174" y="1442025"/>
            <a:ext cx="5802035"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Core programming language with image preprocessing capabilities</a:t>
            </a:r>
            <a:endParaRPr lang="en-US" sz="1200" dirty="0"/>
          </a:p>
        </p:txBody>
      </p:sp>
      <p:sp>
        <p:nvSpPr>
          <p:cNvPr id="12" name="Shape 7">
            <a:extLst>
              <a:ext uri="{FF2B5EF4-FFF2-40B4-BE49-F238E27FC236}">
                <a16:creationId xmlns:a16="http://schemas.microsoft.com/office/drawing/2014/main" id="{E0FA2625-278A-1FC5-2D2A-7B98994BD817}"/>
              </a:ext>
            </a:extLst>
          </p:cNvPr>
          <p:cNvSpPr/>
          <p:nvPr/>
        </p:nvSpPr>
        <p:spPr>
          <a:xfrm>
            <a:off x="536495" y="2351881"/>
            <a:ext cx="4999064" cy="749399"/>
          </a:xfrm>
          <a:prstGeom prst="roundRect">
            <a:avLst>
              <a:gd name="adj" fmla="val 8453"/>
            </a:avLst>
          </a:prstGeom>
          <a:solidFill>
            <a:srgbClr val="241631"/>
          </a:solidFill>
          <a:ln w="30480">
            <a:solidFill>
              <a:srgbClr val="5C4E69"/>
            </a:solidFill>
            <a:prstDash val="solid"/>
          </a:ln>
        </p:spPr>
      </p:sp>
      <p:sp>
        <p:nvSpPr>
          <p:cNvPr id="14" name="Text 8">
            <a:extLst>
              <a:ext uri="{FF2B5EF4-FFF2-40B4-BE49-F238E27FC236}">
                <a16:creationId xmlns:a16="http://schemas.microsoft.com/office/drawing/2014/main" id="{07069A3E-C324-C14A-AA15-FCEF0A264E95}"/>
              </a:ext>
            </a:extLst>
          </p:cNvPr>
          <p:cNvSpPr/>
          <p:nvPr/>
        </p:nvSpPr>
        <p:spPr>
          <a:xfrm>
            <a:off x="669964" y="2416582"/>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Gemini/OpenAI Vision</a:t>
            </a:r>
            <a:endParaRPr lang="en-US" sz="1600" dirty="0"/>
          </a:p>
        </p:txBody>
      </p:sp>
      <p:sp>
        <p:nvSpPr>
          <p:cNvPr id="15" name="Text 9">
            <a:extLst>
              <a:ext uri="{FF2B5EF4-FFF2-40B4-BE49-F238E27FC236}">
                <a16:creationId xmlns:a16="http://schemas.microsoft.com/office/drawing/2014/main" id="{01289025-3543-8054-1686-4C75F931D343}"/>
              </a:ext>
            </a:extLst>
          </p:cNvPr>
          <p:cNvSpPr/>
          <p:nvPr/>
        </p:nvSpPr>
        <p:spPr>
          <a:xfrm>
            <a:off x="669964" y="2738377"/>
            <a:ext cx="5801916" cy="362903"/>
          </a:xfrm>
          <a:prstGeom prst="rect">
            <a:avLst/>
          </a:prstGeom>
          <a:noFill/>
          <a:ln/>
        </p:spPr>
        <p:txBody>
          <a:bodyPr wrap="non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Multimodal AI models for pantry item detection</a:t>
            </a:r>
            <a:endParaRPr lang="en-US" sz="1200" dirty="0"/>
          </a:p>
        </p:txBody>
      </p:sp>
      <p:sp>
        <p:nvSpPr>
          <p:cNvPr id="16" name="Shape 10">
            <a:extLst>
              <a:ext uri="{FF2B5EF4-FFF2-40B4-BE49-F238E27FC236}">
                <a16:creationId xmlns:a16="http://schemas.microsoft.com/office/drawing/2014/main" id="{A10D4A02-5FBE-517E-96D1-4814AA0C4F91}"/>
              </a:ext>
            </a:extLst>
          </p:cNvPr>
          <p:cNvSpPr/>
          <p:nvPr/>
        </p:nvSpPr>
        <p:spPr>
          <a:xfrm>
            <a:off x="5869159" y="2224534"/>
            <a:ext cx="6226639" cy="785990"/>
          </a:xfrm>
          <a:prstGeom prst="roundRect">
            <a:avLst>
              <a:gd name="adj" fmla="val 8453"/>
            </a:avLst>
          </a:prstGeom>
          <a:solidFill>
            <a:srgbClr val="241631"/>
          </a:solidFill>
          <a:ln w="30480">
            <a:solidFill>
              <a:srgbClr val="5C4E69"/>
            </a:solidFill>
            <a:prstDash val="solid"/>
          </a:ln>
        </p:spPr>
      </p:sp>
      <p:pic>
        <p:nvPicPr>
          <p:cNvPr id="17" name="Image 3" descr="preencoded.png">
            <a:extLst>
              <a:ext uri="{FF2B5EF4-FFF2-40B4-BE49-F238E27FC236}">
                <a16:creationId xmlns:a16="http://schemas.microsoft.com/office/drawing/2014/main" id="{E0A26E55-D3F7-993B-28DC-C743881F7A24}"/>
              </a:ext>
            </a:extLst>
          </p:cNvPr>
          <p:cNvPicPr>
            <a:picLocks noChangeAspect="1"/>
          </p:cNvPicPr>
          <p:nvPr/>
        </p:nvPicPr>
        <p:blipFill>
          <a:blip r:embed="rId2"/>
          <a:stretch>
            <a:fillRect/>
          </a:stretch>
        </p:blipFill>
        <p:spPr>
          <a:xfrm>
            <a:off x="5924213" y="2270784"/>
            <a:ext cx="45719" cy="649044"/>
          </a:xfrm>
          <a:prstGeom prst="rect">
            <a:avLst/>
          </a:prstGeom>
        </p:spPr>
      </p:pic>
      <p:sp>
        <p:nvSpPr>
          <p:cNvPr id="18" name="Text 11">
            <a:extLst>
              <a:ext uri="{FF2B5EF4-FFF2-40B4-BE49-F238E27FC236}">
                <a16:creationId xmlns:a16="http://schemas.microsoft.com/office/drawing/2014/main" id="{3DF3C5F8-9C22-6E36-6EB6-8095F0388736}"/>
              </a:ext>
            </a:extLst>
          </p:cNvPr>
          <p:cNvSpPr/>
          <p:nvPr/>
        </p:nvSpPr>
        <p:spPr>
          <a:xfrm>
            <a:off x="6041409" y="2270640"/>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Heuristic AI Logic</a:t>
            </a:r>
            <a:endParaRPr lang="en-US" sz="1600" dirty="0"/>
          </a:p>
        </p:txBody>
      </p:sp>
      <p:sp>
        <p:nvSpPr>
          <p:cNvPr id="19" name="Text 12">
            <a:extLst>
              <a:ext uri="{FF2B5EF4-FFF2-40B4-BE49-F238E27FC236}">
                <a16:creationId xmlns:a16="http://schemas.microsoft.com/office/drawing/2014/main" id="{05954B3A-650C-8775-C90C-320945777ECA}"/>
              </a:ext>
            </a:extLst>
          </p:cNvPr>
          <p:cNvSpPr/>
          <p:nvPr/>
        </p:nvSpPr>
        <p:spPr>
          <a:xfrm>
            <a:off x="6014759" y="2558698"/>
            <a:ext cx="5802035"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Recipe generation, substitution reasoning, and health scoring</a:t>
            </a:r>
            <a:endParaRPr lang="en-US" sz="1200" dirty="0"/>
          </a:p>
        </p:txBody>
      </p:sp>
      <p:sp>
        <p:nvSpPr>
          <p:cNvPr id="20" name="Shape 13">
            <a:extLst>
              <a:ext uri="{FF2B5EF4-FFF2-40B4-BE49-F238E27FC236}">
                <a16:creationId xmlns:a16="http://schemas.microsoft.com/office/drawing/2014/main" id="{BF9DA55E-E666-D1F3-4044-79FD47070A6D}"/>
              </a:ext>
            </a:extLst>
          </p:cNvPr>
          <p:cNvSpPr/>
          <p:nvPr/>
        </p:nvSpPr>
        <p:spPr>
          <a:xfrm>
            <a:off x="527031" y="3328094"/>
            <a:ext cx="4999064" cy="782193"/>
          </a:xfrm>
          <a:prstGeom prst="roundRect">
            <a:avLst>
              <a:gd name="adj" fmla="val 10695"/>
            </a:avLst>
          </a:prstGeom>
          <a:solidFill>
            <a:srgbClr val="241631"/>
          </a:solidFill>
          <a:ln w="30480">
            <a:solidFill>
              <a:srgbClr val="5C4E69"/>
            </a:solidFill>
            <a:prstDash val="solid"/>
          </a:ln>
        </p:spPr>
      </p:sp>
      <p:pic>
        <p:nvPicPr>
          <p:cNvPr id="21" name="Image 4" descr="preencoded.png">
            <a:extLst>
              <a:ext uri="{FF2B5EF4-FFF2-40B4-BE49-F238E27FC236}">
                <a16:creationId xmlns:a16="http://schemas.microsoft.com/office/drawing/2014/main" id="{75CC3D3B-7739-83E2-06E8-873704A6302A}"/>
              </a:ext>
            </a:extLst>
          </p:cNvPr>
          <p:cNvPicPr>
            <a:picLocks noChangeAspect="1"/>
          </p:cNvPicPr>
          <p:nvPr/>
        </p:nvPicPr>
        <p:blipFill>
          <a:blip r:embed="rId3"/>
          <a:stretch>
            <a:fillRect/>
          </a:stretch>
        </p:blipFill>
        <p:spPr>
          <a:xfrm>
            <a:off x="530987" y="3419649"/>
            <a:ext cx="59787" cy="670789"/>
          </a:xfrm>
          <a:prstGeom prst="rect">
            <a:avLst/>
          </a:prstGeom>
        </p:spPr>
      </p:pic>
      <p:sp>
        <p:nvSpPr>
          <p:cNvPr id="22" name="Text 14">
            <a:extLst>
              <a:ext uri="{FF2B5EF4-FFF2-40B4-BE49-F238E27FC236}">
                <a16:creationId xmlns:a16="http://schemas.microsoft.com/office/drawing/2014/main" id="{86A5425A-1210-0B7E-6DCF-326924103B18}"/>
              </a:ext>
            </a:extLst>
          </p:cNvPr>
          <p:cNvSpPr/>
          <p:nvPr/>
        </p:nvSpPr>
        <p:spPr>
          <a:xfrm>
            <a:off x="697586" y="3371811"/>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Python-dotenv</a:t>
            </a:r>
            <a:endParaRPr lang="en-US" sz="1600" dirty="0"/>
          </a:p>
        </p:txBody>
      </p:sp>
      <p:sp>
        <p:nvSpPr>
          <p:cNvPr id="23" name="Text 15">
            <a:extLst>
              <a:ext uri="{FF2B5EF4-FFF2-40B4-BE49-F238E27FC236}">
                <a16:creationId xmlns:a16="http://schemas.microsoft.com/office/drawing/2014/main" id="{CA4BEE95-28CA-6861-1D04-23821EA0C9C4}"/>
              </a:ext>
            </a:extLst>
          </p:cNvPr>
          <p:cNvSpPr/>
          <p:nvPr/>
        </p:nvSpPr>
        <p:spPr>
          <a:xfrm>
            <a:off x="659830" y="3747384"/>
            <a:ext cx="5801916" cy="362903"/>
          </a:xfrm>
          <a:prstGeom prst="rect">
            <a:avLst/>
          </a:prstGeom>
          <a:noFill/>
          <a:ln/>
        </p:spPr>
        <p:txBody>
          <a:bodyPr wrap="none" lIns="0" tIns="0" rIns="0" bIns="0" rtlCol="0" anchor="t"/>
          <a:lstStyle/>
          <a:p>
            <a:pPr marL="0" indent="0" algn="l">
              <a:lnSpc>
                <a:spcPts val="2850"/>
              </a:lnSpc>
              <a:buNone/>
            </a:pPr>
            <a:r>
              <a:rPr lang="en-US" sz="1600" dirty="0">
                <a:solidFill>
                  <a:srgbClr val="DAD1E6"/>
                </a:solidFill>
                <a:latin typeface="Fira Sans" pitchFamily="34" charset="0"/>
                <a:ea typeface="Fira Sans" pitchFamily="34" charset="-122"/>
                <a:cs typeface="Fira Sans" pitchFamily="34" charset="-120"/>
              </a:rPr>
              <a:t>Secure environment variable management</a:t>
            </a:r>
            <a:endParaRPr lang="en-US" sz="1600" dirty="0"/>
          </a:p>
        </p:txBody>
      </p:sp>
      <p:sp>
        <p:nvSpPr>
          <p:cNvPr id="24" name="Shape 16">
            <a:extLst>
              <a:ext uri="{FF2B5EF4-FFF2-40B4-BE49-F238E27FC236}">
                <a16:creationId xmlns:a16="http://schemas.microsoft.com/office/drawing/2014/main" id="{7003632C-1B7B-7C68-A235-4F73285C0CB5}"/>
              </a:ext>
            </a:extLst>
          </p:cNvPr>
          <p:cNvSpPr/>
          <p:nvPr/>
        </p:nvSpPr>
        <p:spPr>
          <a:xfrm>
            <a:off x="5894089" y="3214687"/>
            <a:ext cx="6226640" cy="705213"/>
          </a:xfrm>
          <a:prstGeom prst="roundRect">
            <a:avLst>
              <a:gd name="adj" fmla="val 10695"/>
            </a:avLst>
          </a:prstGeom>
          <a:solidFill>
            <a:srgbClr val="241631"/>
          </a:solidFill>
          <a:ln w="30480">
            <a:solidFill>
              <a:srgbClr val="5C4E69"/>
            </a:solidFill>
            <a:prstDash val="solid"/>
          </a:ln>
        </p:spPr>
      </p:sp>
      <p:pic>
        <p:nvPicPr>
          <p:cNvPr id="25" name="Image 5" descr="preencoded.png">
            <a:extLst>
              <a:ext uri="{FF2B5EF4-FFF2-40B4-BE49-F238E27FC236}">
                <a16:creationId xmlns:a16="http://schemas.microsoft.com/office/drawing/2014/main" id="{D83152C8-1585-1135-4D66-C2F43B884962}"/>
              </a:ext>
            </a:extLst>
          </p:cNvPr>
          <p:cNvPicPr>
            <a:picLocks noChangeAspect="1"/>
          </p:cNvPicPr>
          <p:nvPr/>
        </p:nvPicPr>
        <p:blipFill>
          <a:blip r:embed="rId3"/>
          <a:stretch>
            <a:fillRect/>
          </a:stretch>
        </p:blipFill>
        <p:spPr>
          <a:xfrm>
            <a:off x="5902058" y="3251459"/>
            <a:ext cx="51024" cy="572473"/>
          </a:xfrm>
          <a:prstGeom prst="rect">
            <a:avLst/>
          </a:prstGeom>
        </p:spPr>
      </p:pic>
      <p:sp>
        <p:nvSpPr>
          <p:cNvPr id="26" name="Text 17">
            <a:extLst>
              <a:ext uri="{FF2B5EF4-FFF2-40B4-BE49-F238E27FC236}">
                <a16:creationId xmlns:a16="http://schemas.microsoft.com/office/drawing/2014/main" id="{F0EF536C-DCA7-60ED-A6A4-715953DBC2FF}"/>
              </a:ext>
            </a:extLst>
          </p:cNvPr>
          <p:cNvSpPr/>
          <p:nvPr/>
        </p:nvSpPr>
        <p:spPr>
          <a:xfrm>
            <a:off x="6041409" y="3242484"/>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Docker</a:t>
            </a:r>
            <a:endParaRPr lang="en-US" sz="1600" dirty="0"/>
          </a:p>
        </p:txBody>
      </p:sp>
      <p:sp>
        <p:nvSpPr>
          <p:cNvPr id="27" name="Text 18">
            <a:extLst>
              <a:ext uri="{FF2B5EF4-FFF2-40B4-BE49-F238E27FC236}">
                <a16:creationId xmlns:a16="http://schemas.microsoft.com/office/drawing/2014/main" id="{84147CF0-BDEF-0F6A-3506-1DF163CE9372}"/>
              </a:ext>
            </a:extLst>
          </p:cNvPr>
          <p:cNvSpPr/>
          <p:nvPr/>
        </p:nvSpPr>
        <p:spPr>
          <a:xfrm>
            <a:off x="6014758" y="3516600"/>
            <a:ext cx="5802035" cy="362903"/>
          </a:xfrm>
          <a:prstGeom prst="rect">
            <a:avLst/>
          </a:prstGeom>
          <a:noFill/>
          <a:ln/>
        </p:spPr>
        <p:txBody>
          <a:bodyPr wrap="non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Containerized deployment for scalability</a:t>
            </a:r>
            <a:endParaRPr lang="en-US" sz="1200" dirty="0"/>
          </a:p>
        </p:txBody>
      </p:sp>
      <p:pic>
        <p:nvPicPr>
          <p:cNvPr id="53" name="Image 0" descr="preencoded.png">
            <a:extLst>
              <a:ext uri="{FF2B5EF4-FFF2-40B4-BE49-F238E27FC236}">
                <a16:creationId xmlns:a16="http://schemas.microsoft.com/office/drawing/2014/main" id="{3836AD30-249B-C3A1-6542-18E7AD5CCB57}"/>
              </a:ext>
            </a:extLst>
          </p:cNvPr>
          <p:cNvPicPr>
            <a:picLocks noChangeAspect="1"/>
          </p:cNvPicPr>
          <p:nvPr/>
        </p:nvPicPr>
        <p:blipFill>
          <a:blip r:embed="rId2"/>
          <a:stretch>
            <a:fillRect/>
          </a:stretch>
        </p:blipFill>
        <p:spPr>
          <a:xfrm>
            <a:off x="557510" y="2452240"/>
            <a:ext cx="45719" cy="649040"/>
          </a:xfrm>
          <a:prstGeom prst="rect">
            <a:avLst/>
          </a:prstGeom>
        </p:spPr>
      </p:pic>
    </p:spTree>
    <p:extLst>
      <p:ext uri="{BB962C8B-B14F-4D97-AF65-F5344CB8AC3E}">
        <p14:creationId xmlns:p14="http://schemas.microsoft.com/office/powerpoint/2010/main" val="11499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60932B8-3083-79C1-570F-40AD207BF259}"/>
              </a:ext>
            </a:extLst>
          </p:cNvPr>
          <p:cNvSpPr/>
          <p:nvPr/>
        </p:nvSpPr>
        <p:spPr>
          <a:xfrm>
            <a:off x="1816418" y="115133"/>
            <a:ext cx="3984546" cy="498038"/>
          </a:xfrm>
          <a:prstGeom prst="rect">
            <a:avLst/>
          </a:prstGeom>
          <a:noFill/>
          <a:ln/>
        </p:spPr>
        <p:txBody>
          <a:bodyPr wrap="none" lIns="0" tIns="0" rIns="0" bIns="0" rtlCol="0" anchor="t"/>
          <a:lstStyle/>
          <a:p>
            <a:pPr marL="0" indent="0" algn="l">
              <a:lnSpc>
                <a:spcPts val="3900"/>
              </a:lnSpc>
              <a:buNone/>
            </a:pPr>
            <a:r>
              <a:rPr lang="en-US" sz="2000" b="1" dirty="0">
                <a:solidFill>
                  <a:schemeClr val="accent2"/>
                </a:solidFill>
                <a:latin typeface="Inconsolata Bold" pitchFamily="34" charset="0"/>
                <a:ea typeface="Inconsolata Bold" pitchFamily="34" charset="-122"/>
                <a:cs typeface="Inconsolata Bold" pitchFamily="34" charset="-120"/>
              </a:rPr>
              <a:t>Workflow</a:t>
            </a:r>
            <a:r>
              <a:rPr lang="en-US" sz="20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2000" b="1" dirty="0">
                <a:solidFill>
                  <a:schemeClr val="accent2"/>
                </a:solidFill>
                <a:latin typeface="Inconsolata Bold" pitchFamily="34" charset="0"/>
                <a:ea typeface="Inconsolata Bold" pitchFamily="34" charset="-122"/>
                <a:cs typeface="Inconsolata Bold" pitchFamily="34" charset="-120"/>
              </a:rPr>
              <a:t>Process</a:t>
            </a:r>
            <a:endParaRPr lang="en-US" sz="2000" dirty="0">
              <a:solidFill>
                <a:schemeClr val="accent2"/>
              </a:solidFill>
            </a:endParaRPr>
          </a:p>
        </p:txBody>
      </p:sp>
      <p:pic>
        <p:nvPicPr>
          <p:cNvPr id="3" name="Image 0" descr="preencoded.png">
            <a:extLst>
              <a:ext uri="{FF2B5EF4-FFF2-40B4-BE49-F238E27FC236}">
                <a16:creationId xmlns:a16="http://schemas.microsoft.com/office/drawing/2014/main" id="{0787ADBE-9AA7-F4C6-55E7-4576BCED2CD7}"/>
              </a:ext>
            </a:extLst>
          </p:cNvPr>
          <p:cNvPicPr>
            <a:picLocks noChangeAspect="1"/>
          </p:cNvPicPr>
          <p:nvPr/>
        </p:nvPicPr>
        <p:blipFill>
          <a:blip r:embed="rId2"/>
          <a:stretch>
            <a:fillRect/>
          </a:stretch>
        </p:blipFill>
        <p:spPr>
          <a:xfrm>
            <a:off x="1698431" y="659845"/>
            <a:ext cx="478036" cy="667584"/>
          </a:xfrm>
          <a:prstGeom prst="rect">
            <a:avLst/>
          </a:prstGeom>
        </p:spPr>
      </p:pic>
      <p:sp>
        <p:nvSpPr>
          <p:cNvPr id="4" name="Text 1">
            <a:extLst>
              <a:ext uri="{FF2B5EF4-FFF2-40B4-BE49-F238E27FC236}">
                <a16:creationId xmlns:a16="http://schemas.microsoft.com/office/drawing/2014/main" id="{090C235F-6DAF-A369-4122-F1F0BEC9F87E}"/>
              </a:ext>
            </a:extLst>
          </p:cNvPr>
          <p:cNvSpPr/>
          <p:nvPr/>
        </p:nvSpPr>
        <p:spPr>
          <a:xfrm>
            <a:off x="2219352" y="616684"/>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Image Upload</a:t>
            </a:r>
            <a:endParaRPr lang="en-US" sz="1050" dirty="0">
              <a:solidFill>
                <a:schemeClr val="tx1">
                  <a:lumMod val="95000"/>
                  <a:lumOff val="5000"/>
                </a:schemeClr>
              </a:solidFill>
            </a:endParaRPr>
          </a:p>
        </p:txBody>
      </p:sp>
      <p:sp>
        <p:nvSpPr>
          <p:cNvPr id="5" name="Text 2">
            <a:extLst>
              <a:ext uri="{FF2B5EF4-FFF2-40B4-BE49-F238E27FC236}">
                <a16:creationId xmlns:a16="http://schemas.microsoft.com/office/drawing/2014/main" id="{7FD62A3C-7356-4530-D9AB-9DFD6BBDE755}"/>
              </a:ext>
            </a:extLst>
          </p:cNvPr>
          <p:cNvSpPr/>
          <p:nvPr/>
        </p:nvSpPr>
        <p:spPr>
          <a:xfrm>
            <a:off x="2238809" y="869157"/>
            <a:ext cx="10407491"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User uploads pantry photo through Streamlit interface</a:t>
            </a:r>
            <a:endParaRPr lang="en-US" sz="1050" dirty="0">
              <a:solidFill>
                <a:schemeClr val="tx1">
                  <a:lumMod val="95000"/>
                  <a:lumOff val="5000"/>
                </a:schemeClr>
              </a:solidFill>
            </a:endParaRPr>
          </a:p>
        </p:txBody>
      </p:sp>
      <p:pic>
        <p:nvPicPr>
          <p:cNvPr id="6" name="Image 1" descr="preencoded.png">
            <a:extLst>
              <a:ext uri="{FF2B5EF4-FFF2-40B4-BE49-F238E27FC236}">
                <a16:creationId xmlns:a16="http://schemas.microsoft.com/office/drawing/2014/main" id="{1889AFEA-3389-1AD7-135D-D0B6DDEB17DF}"/>
              </a:ext>
            </a:extLst>
          </p:cNvPr>
          <p:cNvPicPr>
            <a:picLocks noChangeAspect="1"/>
          </p:cNvPicPr>
          <p:nvPr/>
        </p:nvPicPr>
        <p:blipFill>
          <a:blip r:embed="rId2"/>
          <a:stretch>
            <a:fillRect/>
          </a:stretch>
        </p:blipFill>
        <p:spPr>
          <a:xfrm>
            <a:off x="1695633" y="1267047"/>
            <a:ext cx="478036" cy="654590"/>
          </a:xfrm>
          <a:prstGeom prst="rect">
            <a:avLst/>
          </a:prstGeom>
        </p:spPr>
      </p:pic>
      <p:sp>
        <p:nvSpPr>
          <p:cNvPr id="7" name="Text 3">
            <a:extLst>
              <a:ext uri="{FF2B5EF4-FFF2-40B4-BE49-F238E27FC236}">
                <a16:creationId xmlns:a16="http://schemas.microsoft.com/office/drawing/2014/main" id="{D7BCD4CC-980E-4C7A-E97C-50F3DBA9E823}"/>
              </a:ext>
            </a:extLst>
          </p:cNvPr>
          <p:cNvSpPr/>
          <p:nvPr/>
        </p:nvSpPr>
        <p:spPr>
          <a:xfrm>
            <a:off x="2271557" y="1327429"/>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Preprocessing</a:t>
            </a:r>
            <a:endParaRPr lang="en-US" sz="1050" dirty="0">
              <a:solidFill>
                <a:schemeClr val="tx1">
                  <a:lumMod val="95000"/>
                  <a:lumOff val="5000"/>
                </a:schemeClr>
              </a:solidFill>
            </a:endParaRPr>
          </a:p>
        </p:txBody>
      </p:sp>
      <p:sp>
        <p:nvSpPr>
          <p:cNvPr id="8" name="Text 4">
            <a:extLst>
              <a:ext uri="{FF2B5EF4-FFF2-40B4-BE49-F238E27FC236}">
                <a16:creationId xmlns:a16="http://schemas.microsoft.com/office/drawing/2014/main" id="{C79F686A-6298-0685-30B0-EB71A381688E}"/>
              </a:ext>
            </a:extLst>
          </p:cNvPr>
          <p:cNvSpPr/>
          <p:nvPr/>
        </p:nvSpPr>
        <p:spPr>
          <a:xfrm>
            <a:off x="2238809" y="1547158"/>
            <a:ext cx="10168533"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Image enhancement, resizing, and optimization</a:t>
            </a:r>
            <a:endParaRPr lang="en-US" sz="1050" dirty="0">
              <a:solidFill>
                <a:schemeClr val="tx1">
                  <a:lumMod val="95000"/>
                  <a:lumOff val="5000"/>
                </a:schemeClr>
              </a:solidFill>
            </a:endParaRPr>
          </a:p>
        </p:txBody>
      </p:sp>
      <p:pic>
        <p:nvPicPr>
          <p:cNvPr id="9" name="Image 2" descr="preencoded.png">
            <a:extLst>
              <a:ext uri="{FF2B5EF4-FFF2-40B4-BE49-F238E27FC236}">
                <a16:creationId xmlns:a16="http://schemas.microsoft.com/office/drawing/2014/main" id="{0C7EAA29-3A46-C0FE-AB50-0A5DB582FEB5}"/>
              </a:ext>
            </a:extLst>
          </p:cNvPr>
          <p:cNvPicPr>
            <a:picLocks noChangeAspect="1"/>
          </p:cNvPicPr>
          <p:nvPr/>
        </p:nvPicPr>
        <p:blipFill>
          <a:blip r:embed="rId2"/>
          <a:stretch>
            <a:fillRect/>
          </a:stretch>
        </p:blipFill>
        <p:spPr>
          <a:xfrm>
            <a:off x="1695633" y="1970624"/>
            <a:ext cx="478036" cy="654590"/>
          </a:xfrm>
          <a:prstGeom prst="rect">
            <a:avLst/>
          </a:prstGeom>
        </p:spPr>
      </p:pic>
      <p:sp>
        <p:nvSpPr>
          <p:cNvPr id="10" name="Text 5">
            <a:extLst>
              <a:ext uri="{FF2B5EF4-FFF2-40B4-BE49-F238E27FC236}">
                <a16:creationId xmlns:a16="http://schemas.microsoft.com/office/drawing/2014/main" id="{381B3145-3EB9-DEE3-74B6-40BF49A7C78D}"/>
              </a:ext>
            </a:extLst>
          </p:cNvPr>
          <p:cNvSpPr/>
          <p:nvPr/>
        </p:nvSpPr>
        <p:spPr>
          <a:xfrm>
            <a:off x="2304566" y="2000458"/>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Detection</a:t>
            </a:r>
            <a:endParaRPr lang="en-US" sz="1050" dirty="0">
              <a:solidFill>
                <a:schemeClr val="tx1">
                  <a:lumMod val="95000"/>
                  <a:lumOff val="5000"/>
                </a:schemeClr>
              </a:solidFill>
            </a:endParaRPr>
          </a:p>
        </p:txBody>
      </p:sp>
      <p:sp>
        <p:nvSpPr>
          <p:cNvPr id="11" name="Text 6">
            <a:extLst>
              <a:ext uri="{FF2B5EF4-FFF2-40B4-BE49-F238E27FC236}">
                <a16:creationId xmlns:a16="http://schemas.microsoft.com/office/drawing/2014/main" id="{9B906154-968E-1E5E-E483-E633E194541D}"/>
              </a:ext>
            </a:extLst>
          </p:cNvPr>
          <p:cNvSpPr/>
          <p:nvPr/>
        </p:nvSpPr>
        <p:spPr>
          <a:xfrm>
            <a:off x="2294394" y="2228374"/>
            <a:ext cx="9929455"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AI identifies visible food items from image</a:t>
            </a:r>
            <a:endParaRPr lang="en-US" sz="1050" dirty="0">
              <a:solidFill>
                <a:schemeClr val="tx1">
                  <a:lumMod val="95000"/>
                  <a:lumOff val="5000"/>
                </a:schemeClr>
              </a:solidFill>
            </a:endParaRPr>
          </a:p>
        </p:txBody>
      </p:sp>
      <p:pic>
        <p:nvPicPr>
          <p:cNvPr id="12" name="Image 3" descr="preencoded.png">
            <a:extLst>
              <a:ext uri="{FF2B5EF4-FFF2-40B4-BE49-F238E27FC236}">
                <a16:creationId xmlns:a16="http://schemas.microsoft.com/office/drawing/2014/main" id="{58550EE5-97CF-19CF-2A9C-849DF4C8B3F5}"/>
              </a:ext>
            </a:extLst>
          </p:cNvPr>
          <p:cNvPicPr>
            <a:picLocks noChangeAspect="1"/>
          </p:cNvPicPr>
          <p:nvPr/>
        </p:nvPicPr>
        <p:blipFill>
          <a:blip r:embed="rId2"/>
          <a:stretch>
            <a:fillRect/>
          </a:stretch>
        </p:blipFill>
        <p:spPr>
          <a:xfrm>
            <a:off x="1695633" y="2594848"/>
            <a:ext cx="478036" cy="551475"/>
          </a:xfrm>
          <a:prstGeom prst="rect">
            <a:avLst/>
          </a:prstGeom>
        </p:spPr>
      </p:pic>
      <p:sp>
        <p:nvSpPr>
          <p:cNvPr id="13" name="Text 7">
            <a:extLst>
              <a:ext uri="{FF2B5EF4-FFF2-40B4-BE49-F238E27FC236}">
                <a16:creationId xmlns:a16="http://schemas.microsoft.com/office/drawing/2014/main" id="{F07073BC-16D0-9E8B-F51B-C7450F4E3C23}"/>
              </a:ext>
            </a:extLst>
          </p:cNvPr>
          <p:cNvSpPr/>
          <p:nvPr/>
        </p:nvSpPr>
        <p:spPr>
          <a:xfrm>
            <a:off x="2294394" y="2594848"/>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Categorization</a:t>
            </a:r>
            <a:endParaRPr lang="en-US" sz="1050" dirty="0">
              <a:solidFill>
                <a:schemeClr val="tx1">
                  <a:lumMod val="95000"/>
                  <a:lumOff val="5000"/>
                </a:schemeClr>
              </a:solidFill>
            </a:endParaRPr>
          </a:p>
        </p:txBody>
      </p:sp>
      <p:sp>
        <p:nvSpPr>
          <p:cNvPr id="14" name="Text 8">
            <a:extLst>
              <a:ext uri="{FF2B5EF4-FFF2-40B4-BE49-F238E27FC236}">
                <a16:creationId xmlns:a16="http://schemas.microsoft.com/office/drawing/2014/main" id="{3F564FE2-4A3F-97B7-C738-E8D0870F6BA2}"/>
              </a:ext>
            </a:extLst>
          </p:cNvPr>
          <p:cNvSpPr/>
          <p:nvPr/>
        </p:nvSpPr>
        <p:spPr>
          <a:xfrm>
            <a:off x="2294753" y="2848541"/>
            <a:ext cx="9690378"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Items classified into storage types</a:t>
            </a:r>
            <a:endParaRPr lang="en-US" sz="1050" dirty="0">
              <a:solidFill>
                <a:schemeClr val="tx1">
                  <a:lumMod val="95000"/>
                  <a:lumOff val="5000"/>
                </a:schemeClr>
              </a:solidFill>
            </a:endParaRPr>
          </a:p>
        </p:txBody>
      </p:sp>
      <p:pic>
        <p:nvPicPr>
          <p:cNvPr id="15" name="Image 4" descr="preencoded.png">
            <a:extLst>
              <a:ext uri="{FF2B5EF4-FFF2-40B4-BE49-F238E27FC236}">
                <a16:creationId xmlns:a16="http://schemas.microsoft.com/office/drawing/2014/main" id="{AD79B928-12F5-D503-1296-104EAFA2B04D}"/>
              </a:ext>
            </a:extLst>
          </p:cNvPr>
          <p:cNvPicPr>
            <a:picLocks noChangeAspect="1"/>
          </p:cNvPicPr>
          <p:nvPr/>
        </p:nvPicPr>
        <p:blipFill>
          <a:blip r:embed="rId2"/>
          <a:stretch>
            <a:fillRect/>
          </a:stretch>
        </p:blipFill>
        <p:spPr>
          <a:xfrm>
            <a:off x="1695633" y="3195310"/>
            <a:ext cx="478036" cy="648035"/>
          </a:xfrm>
          <a:prstGeom prst="rect">
            <a:avLst/>
          </a:prstGeom>
        </p:spPr>
      </p:pic>
      <p:sp>
        <p:nvSpPr>
          <p:cNvPr id="16" name="Text 9">
            <a:extLst>
              <a:ext uri="{FF2B5EF4-FFF2-40B4-BE49-F238E27FC236}">
                <a16:creationId xmlns:a16="http://schemas.microsoft.com/office/drawing/2014/main" id="{B400CB8E-3948-7A74-7A61-38CF132E4C64}"/>
              </a:ext>
            </a:extLst>
          </p:cNvPr>
          <p:cNvSpPr/>
          <p:nvPr/>
        </p:nvSpPr>
        <p:spPr>
          <a:xfrm>
            <a:off x="2294394" y="3122444"/>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Recipe Generation</a:t>
            </a:r>
            <a:endParaRPr lang="en-US" sz="1050" dirty="0">
              <a:solidFill>
                <a:schemeClr val="tx1">
                  <a:lumMod val="95000"/>
                  <a:lumOff val="5000"/>
                </a:schemeClr>
              </a:solidFill>
            </a:endParaRPr>
          </a:p>
        </p:txBody>
      </p:sp>
      <p:sp>
        <p:nvSpPr>
          <p:cNvPr id="17" name="Text 10">
            <a:extLst>
              <a:ext uri="{FF2B5EF4-FFF2-40B4-BE49-F238E27FC236}">
                <a16:creationId xmlns:a16="http://schemas.microsoft.com/office/drawing/2014/main" id="{58303BC7-E50C-CC1E-967E-DDC74E25A013}"/>
              </a:ext>
            </a:extLst>
          </p:cNvPr>
          <p:cNvSpPr/>
          <p:nvPr/>
        </p:nvSpPr>
        <p:spPr>
          <a:xfrm>
            <a:off x="2271557" y="3383622"/>
            <a:ext cx="9929455"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Three simple recipes with instructions</a:t>
            </a:r>
            <a:endParaRPr lang="en-US" sz="1050" dirty="0">
              <a:solidFill>
                <a:schemeClr val="tx1">
                  <a:lumMod val="95000"/>
                  <a:lumOff val="5000"/>
                </a:schemeClr>
              </a:solidFill>
            </a:endParaRPr>
          </a:p>
        </p:txBody>
      </p:sp>
      <p:pic>
        <p:nvPicPr>
          <p:cNvPr id="18" name="Image 5" descr="preencoded.png">
            <a:extLst>
              <a:ext uri="{FF2B5EF4-FFF2-40B4-BE49-F238E27FC236}">
                <a16:creationId xmlns:a16="http://schemas.microsoft.com/office/drawing/2014/main" id="{BE07F6A7-67E2-5984-D67F-8AE672EFF66E}"/>
              </a:ext>
            </a:extLst>
          </p:cNvPr>
          <p:cNvPicPr>
            <a:picLocks noChangeAspect="1"/>
          </p:cNvPicPr>
          <p:nvPr/>
        </p:nvPicPr>
        <p:blipFill>
          <a:blip r:embed="rId2"/>
          <a:stretch>
            <a:fillRect/>
          </a:stretch>
        </p:blipFill>
        <p:spPr>
          <a:xfrm>
            <a:off x="1695633" y="3924776"/>
            <a:ext cx="478036" cy="1143000"/>
          </a:xfrm>
          <a:prstGeom prst="rect">
            <a:avLst/>
          </a:prstGeom>
        </p:spPr>
      </p:pic>
      <p:sp>
        <p:nvSpPr>
          <p:cNvPr id="19" name="Text 11">
            <a:extLst>
              <a:ext uri="{FF2B5EF4-FFF2-40B4-BE49-F238E27FC236}">
                <a16:creationId xmlns:a16="http://schemas.microsoft.com/office/drawing/2014/main" id="{433C6216-E4A1-352A-0CF7-B3FF5DCDB1A4}"/>
              </a:ext>
            </a:extLst>
          </p:cNvPr>
          <p:cNvSpPr/>
          <p:nvPr/>
        </p:nvSpPr>
        <p:spPr>
          <a:xfrm>
            <a:off x="2304566" y="3843345"/>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Health Scoring</a:t>
            </a:r>
            <a:endParaRPr lang="en-US" sz="1050" dirty="0">
              <a:solidFill>
                <a:schemeClr val="tx1">
                  <a:lumMod val="95000"/>
                  <a:lumOff val="5000"/>
                </a:schemeClr>
              </a:solidFill>
            </a:endParaRPr>
          </a:p>
        </p:txBody>
      </p:sp>
      <p:sp>
        <p:nvSpPr>
          <p:cNvPr id="20" name="Text 12">
            <a:extLst>
              <a:ext uri="{FF2B5EF4-FFF2-40B4-BE49-F238E27FC236}">
                <a16:creationId xmlns:a16="http://schemas.microsoft.com/office/drawing/2014/main" id="{E45F6620-DCE1-7EDE-DAA8-86C4AC47998C}"/>
              </a:ext>
            </a:extLst>
          </p:cNvPr>
          <p:cNvSpPr/>
          <p:nvPr/>
        </p:nvSpPr>
        <p:spPr>
          <a:xfrm>
            <a:off x="2278478" y="4064838"/>
            <a:ext cx="10168533"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Nutritional evaluation with score 1-10</a:t>
            </a:r>
            <a:endParaRPr lang="en-US" sz="1050" dirty="0">
              <a:solidFill>
                <a:schemeClr val="tx1">
                  <a:lumMod val="95000"/>
                  <a:lumOff val="5000"/>
                </a:schemeClr>
              </a:solidFill>
            </a:endParaRPr>
          </a:p>
        </p:txBody>
      </p:sp>
    </p:spTree>
    <p:extLst>
      <p:ext uri="{BB962C8B-B14F-4D97-AF65-F5344CB8AC3E}">
        <p14:creationId xmlns:p14="http://schemas.microsoft.com/office/powerpoint/2010/main" val="3032707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5475E3C-8EAD-38E1-37E5-594578192AC9}"/>
              </a:ext>
            </a:extLst>
          </p:cNvPr>
          <p:cNvSpPr/>
          <p:nvPr/>
        </p:nvSpPr>
        <p:spPr>
          <a:xfrm>
            <a:off x="98456" y="61443"/>
            <a:ext cx="4749822" cy="393356"/>
          </a:xfrm>
          <a:prstGeom prst="rect">
            <a:avLst/>
          </a:prstGeom>
          <a:noFill/>
          <a:ln/>
        </p:spPr>
        <p:txBody>
          <a:bodyPr wrap="none" lIns="0" tIns="0" rIns="0" bIns="0" rtlCol="0" anchor="t"/>
          <a:lstStyle/>
          <a:p>
            <a:pPr marL="0" indent="0" algn="l">
              <a:lnSpc>
                <a:spcPts val="5550"/>
              </a:lnSpc>
              <a:buNone/>
            </a:pPr>
            <a:r>
              <a:rPr lang="en-US" sz="1400" b="1" dirty="0">
                <a:solidFill>
                  <a:schemeClr val="accent2"/>
                </a:solidFill>
                <a:latin typeface="Inconsolata Bold" pitchFamily="34" charset="0"/>
                <a:ea typeface="Inconsolata Bold" pitchFamily="34" charset="-122"/>
                <a:cs typeface="Inconsolata Bold" pitchFamily="34" charset="-120"/>
              </a:rPr>
              <a:t>Key</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Features</a:t>
            </a:r>
            <a:endParaRPr lang="en-US" sz="1400" dirty="0">
              <a:solidFill>
                <a:schemeClr val="accent2"/>
              </a:solidFill>
            </a:endParaRPr>
          </a:p>
        </p:txBody>
      </p:sp>
      <p:sp>
        <p:nvSpPr>
          <p:cNvPr id="3" name="Text 1">
            <a:extLst>
              <a:ext uri="{FF2B5EF4-FFF2-40B4-BE49-F238E27FC236}">
                <a16:creationId xmlns:a16="http://schemas.microsoft.com/office/drawing/2014/main" id="{DE183C8D-2D8E-A0DB-FBBD-A7A4B55BFCC8}"/>
              </a:ext>
            </a:extLst>
          </p:cNvPr>
          <p:cNvSpPr/>
          <p:nvPr/>
        </p:nvSpPr>
        <p:spPr>
          <a:xfrm>
            <a:off x="261340"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Smart Recipe Generation</a:t>
            </a:r>
            <a:endParaRPr lang="en-US" sz="1400" dirty="0">
              <a:solidFill>
                <a:schemeClr val="accent2"/>
              </a:solidFill>
            </a:endParaRPr>
          </a:p>
        </p:txBody>
      </p:sp>
      <p:sp>
        <p:nvSpPr>
          <p:cNvPr id="4" name="Text 2">
            <a:extLst>
              <a:ext uri="{FF2B5EF4-FFF2-40B4-BE49-F238E27FC236}">
                <a16:creationId xmlns:a16="http://schemas.microsoft.com/office/drawing/2014/main" id="{F3C44A75-9D9C-6D27-F1AA-DC9E1D7B87BA}"/>
              </a:ext>
            </a:extLst>
          </p:cNvPr>
          <p:cNvSpPr/>
          <p:nvPr/>
        </p:nvSpPr>
        <p:spPr>
          <a:xfrm>
            <a:off x="261340" y="2431443"/>
            <a:ext cx="2383538" cy="1409818"/>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Generates three beginner-friendly recipes with ingredients, three-step instructions, preparation time, and difficulty level based on available pantry items.</a:t>
            </a:r>
            <a:endParaRPr lang="en-US" sz="1400" dirty="0">
              <a:solidFill>
                <a:schemeClr val="tx1">
                  <a:lumMod val="95000"/>
                  <a:lumOff val="5000"/>
                </a:schemeClr>
              </a:solidFill>
            </a:endParaRPr>
          </a:p>
        </p:txBody>
      </p:sp>
      <p:sp>
        <p:nvSpPr>
          <p:cNvPr id="5" name="Text 3">
            <a:extLst>
              <a:ext uri="{FF2B5EF4-FFF2-40B4-BE49-F238E27FC236}">
                <a16:creationId xmlns:a16="http://schemas.microsoft.com/office/drawing/2014/main" id="{8B8BD287-B333-B743-E767-B0DDA73F973F}"/>
              </a:ext>
            </a:extLst>
          </p:cNvPr>
          <p:cNvSpPr/>
          <p:nvPr/>
        </p:nvSpPr>
        <p:spPr>
          <a:xfrm>
            <a:off x="3667956"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Grocery</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List</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&amp;</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Substitutions</a:t>
            </a:r>
            <a:endParaRPr lang="en-US" sz="1400" dirty="0">
              <a:solidFill>
                <a:schemeClr val="accent2"/>
              </a:solidFill>
            </a:endParaRPr>
          </a:p>
        </p:txBody>
      </p:sp>
      <p:sp>
        <p:nvSpPr>
          <p:cNvPr id="6" name="Text 4">
            <a:extLst>
              <a:ext uri="{FF2B5EF4-FFF2-40B4-BE49-F238E27FC236}">
                <a16:creationId xmlns:a16="http://schemas.microsoft.com/office/drawing/2014/main" id="{31C39E84-460F-67B0-B890-B232A9283C51}"/>
              </a:ext>
            </a:extLst>
          </p:cNvPr>
          <p:cNvSpPr/>
          <p:nvPr/>
        </p:nvSpPr>
        <p:spPr>
          <a:xfrm>
            <a:off x="3667956" y="2368525"/>
            <a:ext cx="2383538" cy="100701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Identifies missing ingredients and creates shopping list. Suggests suitable substitutes using built-in knowledge base.</a:t>
            </a:r>
            <a:endParaRPr lang="en-US" sz="1400" dirty="0">
              <a:solidFill>
                <a:schemeClr val="tx1">
                  <a:lumMod val="95000"/>
                  <a:lumOff val="5000"/>
                </a:schemeClr>
              </a:solidFill>
            </a:endParaRPr>
          </a:p>
        </p:txBody>
      </p:sp>
      <p:sp>
        <p:nvSpPr>
          <p:cNvPr id="7" name="Text 5">
            <a:extLst>
              <a:ext uri="{FF2B5EF4-FFF2-40B4-BE49-F238E27FC236}">
                <a16:creationId xmlns:a16="http://schemas.microsoft.com/office/drawing/2014/main" id="{C577F299-B572-CEB1-2C0B-3F06D87C9497}"/>
              </a:ext>
            </a:extLst>
          </p:cNvPr>
          <p:cNvSpPr/>
          <p:nvPr/>
        </p:nvSpPr>
        <p:spPr>
          <a:xfrm>
            <a:off x="6096000" y="1337187"/>
            <a:ext cx="2374861" cy="196645"/>
          </a:xfrm>
          <a:prstGeom prst="rect">
            <a:avLst/>
          </a:prstGeom>
          <a:noFill/>
          <a:ln/>
        </p:spPr>
        <p:txBody>
          <a:bodyPr wrap="non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Health</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Evaluation</a:t>
            </a:r>
            <a:endParaRPr lang="en-US" sz="1400" dirty="0">
              <a:solidFill>
                <a:schemeClr val="accent2"/>
              </a:solidFill>
            </a:endParaRPr>
          </a:p>
        </p:txBody>
      </p:sp>
      <p:sp>
        <p:nvSpPr>
          <p:cNvPr id="8" name="Text 6">
            <a:extLst>
              <a:ext uri="{FF2B5EF4-FFF2-40B4-BE49-F238E27FC236}">
                <a16:creationId xmlns:a16="http://schemas.microsoft.com/office/drawing/2014/main" id="{43A0C161-94BC-8918-3DE4-51D5B886909D}"/>
              </a:ext>
            </a:extLst>
          </p:cNvPr>
          <p:cNvSpPr/>
          <p:nvPr/>
        </p:nvSpPr>
        <p:spPr>
          <a:xfrm>
            <a:off x="6209332" y="2368524"/>
            <a:ext cx="2383538" cy="100701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Assigns nutritional score (1-10) to each recipe based on ingredient composition, calories, protein, fiber, and fat content.</a:t>
            </a:r>
            <a:endParaRPr lang="en-US" sz="1400" dirty="0">
              <a:solidFill>
                <a:schemeClr val="tx1">
                  <a:lumMod val="95000"/>
                  <a:lumOff val="5000"/>
                </a:schemeClr>
              </a:solidFill>
            </a:endParaRPr>
          </a:p>
        </p:txBody>
      </p:sp>
      <p:sp>
        <p:nvSpPr>
          <p:cNvPr id="9" name="Text 7">
            <a:extLst>
              <a:ext uri="{FF2B5EF4-FFF2-40B4-BE49-F238E27FC236}">
                <a16:creationId xmlns:a16="http://schemas.microsoft.com/office/drawing/2014/main" id="{401706A5-2511-343F-B065-31564D59BA1A}"/>
              </a:ext>
            </a:extLst>
          </p:cNvPr>
          <p:cNvSpPr/>
          <p:nvPr/>
        </p:nvSpPr>
        <p:spPr>
          <a:xfrm>
            <a:off x="8868698"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Storage</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Categorization</a:t>
            </a:r>
            <a:endParaRPr lang="en-US" sz="1400" dirty="0">
              <a:solidFill>
                <a:schemeClr val="accent2"/>
              </a:solidFill>
            </a:endParaRPr>
          </a:p>
        </p:txBody>
      </p:sp>
      <p:sp>
        <p:nvSpPr>
          <p:cNvPr id="10" name="Text 8">
            <a:extLst>
              <a:ext uri="{FF2B5EF4-FFF2-40B4-BE49-F238E27FC236}">
                <a16:creationId xmlns:a16="http://schemas.microsoft.com/office/drawing/2014/main" id="{B45CE72E-51ED-F705-0109-1427D629CD3A}"/>
              </a:ext>
            </a:extLst>
          </p:cNvPr>
          <p:cNvSpPr/>
          <p:nvPr/>
        </p:nvSpPr>
        <p:spPr>
          <a:xfrm>
            <a:off x="8943222" y="2368524"/>
            <a:ext cx="3248778" cy="136134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Automatically classifies items into Dry Storage, Cold Storage, Frozen, and Fresh Produce for better organization.</a:t>
            </a:r>
            <a:endParaRPr lang="en-US" sz="1400" dirty="0">
              <a:solidFill>
                <a:schemeClr val="tx1">
                  <a:lumMod val="95000"/>
                  <a:lumOff val="5000"/>
                </a:schemeClr>
              </a:solidFill>
            </a:endParaRPr>
          </a:p>
        </p:txBody>
      </p:sp>
    </p:spTree>
    <p:extLst>
      <p:ext uri="{BB962C8B-B14F-4D97-AF65-F5344CB8AC3E}">
        <p14:creationId xmlns:p14="http://schemas.microsoft.com/office/powerpoint/2010/main" val="35091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 0">
            <a:extLst>
              <a:ext uri="{FF2B5EF4-FFF2-40B4-BE49-F238E27FC236}">
                <a16:creationId xmlns:a16="http://schemas.microsoft.com/office/drawing/2014/main" id="{3160375D-D849-C379-9EAB-6C2B3A761E23}"/>
              </a:ext>
            </a:extLst>
          </p:cNvPr>
          <p:cNvSpPr/>
          <p:nvPr/>
        </p:nvSpPr>
        <p:spPr>
          <a:xfrm>
            <a:off x="227114" y="0"/>
            <a:ext cx="5589865" cy="635318"/>
          </a:xfrm>
          <a:prstGeom prst="rect">
            <a:avLst/>
          </a:prstGeom>
          <a:noFill/>
          <a:ln/>
        </p:spPr>
        <p:txBody>
          <a:bodyPr wrap="none" lIns="0" tIns="0" rIns="0" bIns="0" rtlCol="0" anchor="t"/>
          <a:lstStyle/>
          <a:p>
            <a:pPr marL="0" indent="0" algn="l">
              <a:lnSpc>
                <a:spcPts val="5000"/>
              </a:lnSpc>
              <a:buNone/>
            </a:pPr>
            <a:r>
              <a:rPr lang="en-US" sz="1400" b="1" dirty="0">
                <a:solidFill>
                  <a:schemeClr val="accent2"/>
                </a:solidFill>
                <a:latin typeface="Inconsolata Bold" pitchFamily="34" charset="0"/>
                <a:ea typeface="Inconsolata Bold" pitchFamily="34" charset="-122"/>
                <a:cs typeface="Inconsolata Bold" pitchFamily="34" charset="-120"/>
              </a:rPr>
              <a:t>Development</a:t>
            </a:r>
            <a:r>
              <a:rPr lang="en-US" sz="1400" b="1" dirty="0">
                <a:solidFill>
                  <a:schemeClr val="tx2">
                    <a:lumMod val="50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Milestones</a:t>
            </a:r>
            <a:endParaRPr lang="en-US" sz="1400" dirty="0">
              <a:solidFill>
                <a:schemeClr val="accent2"/>
              </a:solidFill>
            </a:endParaRPr>
          </a:p>
        </p:txBody>
      </p:sp>
      <p:sp>
        <p:nvSpPr>
          <p:cNvPr id="67" name="Shape 1">
            <a:extLst>
              <a:ext uri="{FF2B5EF4-FFF2-40B4-BE49-F238E27FC236}">
                <a16:creationId xmlns:a16="http://schemas.microsoft.com/office/drawing/2014/main" id="{5595D417-6A8F-862E-911E-30BAA532D108}"/>
              </a:ext>
            </a:extLst>
          </p:cNvPr>
          <p:cNvSpPr/>
          <p:nvPr/>
        </p:nvSpPr>
        <p:spPr>
          <a:xfrm>
            <a:off x="6592252" y="196956"/>
            <a:ext cx="22860" cy="5964198"/>
          </a:xfrm>
          <a:prstGeom prst="roundRect">
            <a:avLst>
              <a:gd name="adj" fmla="val 133398"/>
            </a:avLst>
          </a:prstGeom>
          <a:solidFill>
            <a:srgbClr val="5C4E69"/>
          </a:solidFill>
          <a:ln/>
        </p:spPr>
      </p:sp>
      <p:sp>
        <p:nvSpPr>
          <p:cNvPr id="68" name="Shape 2">
            <a:extLst>
              <a:ext uri="{FF2B5EF4-FFF2-40B4-BE49-F238E27FC236}">
                <a16:creationId xmlns:a16="http://schemas.microsoft.com/office/drawing/2014/main" id="{04A9ACA6-AD24-8CE6-98BF-A93215544EEF}"/>
              </a:ext>
            </a:extLst>
          </p:cNvPr>
          <p:cNvSpPr/>
          <p:nvPr/>
        </p:nvSpPr>
        <p:spPr>
          <a:xfrm>
            <a:off x="5788044" y="414126"/>
            <a:ext cx="609838" cy="22860"/>
          </a:xfrm>
          <a:prstGeom prst="roundRect">
            <a:avLst>
              <a:gd name="adj" fmla="val 133398"/>
            </a:avLst>
          </a:prstGeom>
          <a:solidFill>
            <a:srgbClr val="5C4E69"/>
          </a:solidFill>
          <a:ln/>
        </p:spPr>
      </p:sp>
      <p:sp>
        <p:nvSpPr>
          <p:cNvPr id="69" name="Shape 3">
            <a:extLst>
              <a:ext uri="{FF2B5EF4-FFF2-40B4-BE49-F238E27FC236}">
                <a16:creationId xmlns:a16="http://schemas.microsoft.com/office/drawing/2014/main" id="{44B15D14-AE69-31B7-FAF8-8DB3793B7BAF}"/>
              </a:ext>
            </a:extLst>
          </p:cNvPr>
          <p:cNvSpPr/>
          <p:nvPr/>
        </p:nvSpPr>
        <p:spPr>
          <a:xfrm>
            <a:off x="6375022" y="196956"/>
            <a:ext cx="457319" cy="457319"/>
          </a:xfrm>
          <a:prstGeom prst="roundRect">
            <a:avLst>
              <a:gd name="adj" fmla="val 6668"/>
            </a:avLst>
          </a:prstGeom>
          <a:solidFill>
            <a:srgbClr val="433550"/>
          </a:solidFill>
          <a:ln/>
        </p:spPr>
      </p:sp>
      <p:sp>
        <p:nvSpPr>
          <p:cNvPr id="70" name="Text 4">
            <a:extLst>
              <a:ext uri="{FF2B5EF4-FFF2-40B4-BE49-F238E27FC236}">
                <a16:creationId xmlns:a16="http://schemas.microsoft.com/office/drawing/2014/main" id="{862F176E-4159-8C4F-CE5F-3E63C870CBE4}"/>
              </a:ext>
            </a:extLst>
          </p:cNvPr>
          <p:cNvSpPr/>
          <p:nvPr/>
        </p:nvSpPr>
        <p:spPr>
          <a:xfrm>
            <a:off x="6451163" y="234996"/>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1</a:t>
            </a:r>
            <a:endParaRPr lang="en-US" sz="1000" dirty="0">
              <a:solidFill>
                <a:schemeClr val="tx2">
                  <a:lumMod val="50000"/>
                </a:schemeClr>
              </a:solidFill>
            </a:endParaRPr>
          </a:p>
        </p:txBody>
      </p:sp>
      <p:sp>
        <p:nvSpPr>
          <p:cNvPr id="71" name="Text 5">
            <a:extLst>
              <a:ext uri="{FF2B5EF4-FFF2-40B4-BE49-F238E27FC236}">
                <a16:creationId xmlns:a16="http://schemas.microsoft.com/office/drawing/2014/main" id="{A23EBF1F-2EA9-1ED8-944B-C4F96C3F0900}"/>
              </a:ext>
            </a:extLst>
          </p:cNvPr>
          <p:cNvSpPr/>
          <p:nvPr/>
        </p:nvSpPr>
        <p:spPr>
          <a:xfrm>
            <a:off x="3046095" y="266727"/>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1</a:t>
            </a:r>
            <a:endParaRPr lang="en-US" sz="1000" dirty="0">
              <a:solidFill>
                <a:schemeClr val="tx2">
                  <a:lumMod val="50000"/>
                </a:schemeClr>
              </a:solidFill>
            </a:endParaRPr>
          </a:p>
        </p:txBody>
      </p:sp>
      <p:sp>
        <p:nvSpPr>
          <p:cNvPr id="72" name="Text 6">
            <a:extLst>
              <a:ext uri="{FF2B5EF4-FFF2-40B4-BE49-F238E27FC236}">
                <a16:creationId xmlns:a16="http://schemas.microsoft.com/office/drawing/2014/main" id="{380C3EE0-D3FF-44EF-A9E0-B0435CB5085A}"/>
              </a:ext>
            </a:extLst>
          </p:cNvPr>
          <p:cNvSpPr/>
          <p:nvPr/>
        </p:nvSpPr>
        <p:spPr>
          <a:xfrm>
            <a:off x="0" y="693566"/>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AI Vision Initialization</a:t>
            </a:r>
            <a:endParaRPr lang="en-US" sz="1000" dirty="0">
              <a:solidFill>
                <a:schemeClr val="tx2">
                  <a:lumMod val="50000"/>
                </a:schemeClr>
              </a:solidFill>
            </a:endParaRPr>
          </a:p>
        </p:txBody>
      </p:sp>
      <p:sp>
        <p:nvSpPr>
          <p:cNvPr id="73" name="Text 7">
            <a:extLst>
              <a:ext uri="{FF2B5EF4-FFF2-40B4-BE49-F238E27FC236}">
                <a16:creationId xmlns:a16="http://schemas.microsoft.com/office/drawing/2014/main" id="{905A8311-07D3-C1A7-5124-65B81DDB8C4C}"/>
              </a:ext>
            </a:extLst>
          </p:cNvPr>
          <p:cNvSpPr/>
          <p:nvPr/>
        </p:nvSpPr>
        <p:spPr>
          <a:xfrm>
            <a:off x="0" y="1111118"/>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API setup, key configuration, prompt design</a:t>
            </a:r>
            <a:endParaRPr lang="en-US" sz="1000" dirty="0">
              <a:solidFill>
                <a:schemeClr val="tx2">
                  <a:lumMod val="50000"/>
                </a:schemeClr>
              </a:solidFill>
            </a:endParaRPr>
          </a:p>
        </p:txBody>
      </p:sp>
      <p:sp>
        <p:nvSpPr>
          <p:cNvPr id="74" name="Shape 8">
            <a:extLst>
              <a:ext uri="{FF2B5EF4-FFF2-40B4-BE49-F238E27FC236}">
                <a16:creationId xmlns:a16="http://schemas.microsoft.com/office/drawing/2014/main" id="{229B1337-4B86-E144-A292-3D707353E046}"/>
              </a:ext>
            </a:extLst>
          </p:cNvPr>
          <p:cNvSpPr/>
          <p:nvPr/>
        </p:nvSpPr>
        <p:spPr>
          <a:xfrm>
            <a:off x="6809482" y="1591535"/>
            <a:ext cx="609838" cy="22860"/>
          </a:xfrm>
          <a:prstGeom prst="roundRect">
            <a:avLst>
              <a:gd name="adj" fmla="val 133398"/>
            </a:avLst>
          </a:prstGeom>
          <a:solidFill>
            <a:srgbClr val="5C4E69"/>
          </a:solidFill>
          <a:ln/>
        </p:spPr>
      </p:sp>
      <p:sp>
        <p:nvSpPr>
          <p:cNvPr id="75" name="Shape 9">
            <a:extLst>
              <a:ext uri="{FF2B5EF4-FFF2-40B4-BE49-F238E27FC236}">
                <a16:creationId xmlns:a16="http://schemas.microsoft.com/office/drawing/2014/main" id="{E1C0D87D-04F4-B152-786C-A8A9C4FFDECB}"/>
              </a:ext>
            </a:extLst>
          </p:cNvPr>
          <p:cNvSpPr/>
          <p:nvPr/>
        </p:nvSpPr>
        <p:spPr>
          <a:xfrm>
            <a:off x="6375022" y="1374365"/>
            <a:ext cx="457319" cy="457319"/>
          </a:xfrm>
          <a:prstGeom prst="roundRect">
            <a:avLst>
              <a:gd name="adj" fmla="val 6668"/>
            </a:avLst>
          </a:prstGeom>
          <a:solidFill>
            <a:srgbClr val="433550"/>
          </a:solidFill>
          <a:ln/>
        </p:spPr>
      </p:sp>
      <p:sp>
        <p:nvSpPr>
          <p:cNvPr id="76" name="Text 10">
            <a:extLst>
              <a:ext uri="{FF2B5EF4-FFF2-40B4-BE49-F238E27FC236}">
                <a16:creationId xmlns:a16="http://schemas.microsoft.com/office/drawing/2014/main" id="{B5288C51-0D42-ABC5-3550-6AA08194A6EA}"/>
              </a:ext>
            </a:extLst>
          </p:cNvPr>
          <p:cNvSpPr/>
          <p:nvPr/>
        </p:nvSpPr>
        <p:spPr>
          <a:xfrm>
            <a:off x="6451163" y="1412405"/>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2</a:t>
            </a:r>
            <a:endParaRPr lang="en-US" sz="1000" dirty="0">
              <a:solidFill>
                <a:schemeClr val="tx2">
                  <a:lumMod val="50000"/>
                </a:schemeClr>
              </a:solidFill>
            </a:endParaRPr>
          </a:p>
        </p:txBody>
      </p:sp>
      <p:sp>
        <p:nvSpPr>
          <p:cNvPr id="77" name="Text 11">
            <a:extLst>
              <a:ext uri="{FF2B5EF4-FFF2-40B4-BE49-F238E27FC236}">
                <a16:creationId xmlns:a16="http://schemas.microsoft.com/office/drawing/2014/main" id="{F022B320-CBD3-4BE0-CEFC-28120926185E}"/>
              </a:ext>
            </a:extLst>
          </p:cNvPr>
          <p:cNvSpPr/>
          <p:nvPr/>
        </p:nvSpPr>
        <p:spPr>
          <a:xfrm>
            <a:off x="7620119" y="1444136"/>
            <a:ext cx="2541151" cy="317540"/>
          </a:xfrm>
          <a:prstGeom prst="rect">
            <a:avLst/>
          </a:prstGeom>
          <a:noFill/>
          <a:ln/>
        </p:spPr>
        <p:txBody>
          <a:bodyPr wrap="none" lIns="0" tIns="0" rIns="0" bIns="0" rtlCol="0" anchor="t"/>
          <a:lstStyle/>
          <a:p>
            <a:pPr marL="0" indent="0" algn="l">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2</a:t>
            </a:r>
            <a:endParaRPr lang="en-US" sz="1000" dirty="0">
              <a:solidFill>
                <a:schemeClr val="tx2">
                  <a:lumMod val="50000"/>
                </a:schemeClr>
              </a:solidFill>
            </a:endParaRPr>
          </a:p>
        </p:txBody>
      </p:sp>
      <p:sp>
        <p:nvSpPr>
          <p:cNvPr id="78" name="Text 12">
            <a:extLst>
              <a:ext uri="{FF2B5EF4-FFF2-40B4-BE49-F238E27FC236}">
                <a16:creationId xmlns:a16="http://schemas.microsoft.com/office/drawing/2014/main" id="{3C3E61E7-D23F-2703-0CBB-F3A4D8092548}"/>
              </a:ext>
            </a:extLst>
          </p:cNvPr>
          <p:cNvSpPr/>
          <p:nvPr/>
        </p:nvSpPr>
        <p:spPr>
          <a:xfrm>
            <a:off x="7620119" y="1870975"/>
            <a:ext cx="5587246" cy="308253"/>
          </a:xfrm>
          <a:prstGeom prst="rect">
            <a:avLst/>
          </a:prstGeom>
          <a:noFill/>
          <a:ln/>
        </p:spPr>
        <p:txBody>
          <a:bodyPr wrap="none" lIns="0" tIns="0" rIns="0" bIns="0" rtlCol="0" anchor="t"/>
          <a:lstStyle/>
          <a:p>
            <a:pPr marL="0" indent="0" algn="l">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Core Functionality</a:t>
            </a:r>
            <a:endParaRPr lang="en-US" sz="1000" dirty="0">
              <a:solidFill>
                <a:schemeClr val="tx2">
                  <a:lumMod val="50000"/>
                </a:schemeClr>
              </a:solidFill>
            </a:endParaRPr>
          </a:p>
        </p:txBody>
      </p:sp>
      <p:sp>
        <p:nvSpPr>
          <p:cNvPr id="79" name="Text 13">
            <a:extLst>
              <a:ext uri="{FF2B5EF4-FFF2-40B4-BE49-F238E27FC236}">
                <a16:creationId xmlns:a16="http://schemas.microsoft.com/office/drawing/2014/main" id="{3A7F6C1E-58F1-6AAE-7627-8CD206701813}"/>
              </a:ext>
            </a:extLst>
          </p:cNvPr>
          <p:cNvSpPr/>
          <p:nvPr/>
        </p:nvSpPr>
        <p:spPr>
          <a:xfrm>
            <a:off x="7620119" y="2288527"/>
            <a:ext cx="5587246" cy="616506"/>
          </a:xfrm>
          <a:prstGeom prst="rect">
            <a:avLst/>
          </a:prstGeom>
          <a:noFill/>
          <a:ln/>
        </p:spPr>
        <p:txBody>
          <a:bodyPr wrap="square" lIns="0" tIns="0" rIns="0" bIns="0" rtlCol="0" anchor="t"/>
          <a:lstStyle/>
          <a:p>
            <a:pPr marL="0" indent="0" algn="l">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Image processing, detection, categorization, recipe generation</a:t>
            </a:r>
            <a:endParaRPr lang="en-US" sz="1000" dirty="0">
              <a:solidFill>
                <a:schemeClr val="tx2">
                  <a:lumMod val="50000"/>
                </a:schemeClr>
              </a:solidFill>
            </a:endParaRPr>
          </a:p>
        </p:txBody>
      </p:sp>
      <p:sp>
        <p:nvSpPr>
          <p:cNvPr id="80" name="Shape 14">
            <a:extLst>
              <a:ext uri="{FF2B5EF4-FFF2-40B4-BE49-F238E27FC236}">
                <a16:creationId xmlns:a16="http://schemas.microsoft.com/office/drawing/2014/main" id="{4B680C4C-21C9-FE5B-A296-9437C72D11D2}"/>
              </a:ext>
            </a:extLst>
          </p:cNvPr>
          <p:cNvSpPr/>
          <p:nvPr/>
        </p:nvSpPr>
        <p:spPr>
          <a:xfrm>
            <a:off x="5788044" y="2621664"/>
            <a:ext cx="609838" cy="22860"/>
          </a:xfrm>
          <a:prstGeom prst="roundRect">
            <a:avLst>
              <a:gd name="adj" fmla="val 133398"/>
            </a:avLst>
          </a:prstGeom>
          <a:solidFill>
            <a:srgbClr val="5C4E69"/>
          </a:solidFill>
          <a:ln/>
        </p:spPr>
      </p:sp>
      <p:sp>
        <p:nvSpPr>
          <p:cNvPr id="81" name="Shape 15">
            <a:extLst>
              <a:ext uri="{FF2B5EF4-FFF2-40B4-BE49-F238E27FC236}">
                <a16:creationId xmlns:a16="http://schemas.microsoft.com/office/drawing/2014/main" id="{48428A8E-9765-0CAD-007D-AD144F636121}"/>
              </a:ext>
            </a:extLst>
          </p:cNvPr>
          <p:cNvSpPr/>
          <p:nvPr/>
        </p:nvSpPr>
        <p:spPr>
          <a:xfrm>
            <a:off x="6375022" y="2404494"/>
            <a:ext cx="457319" cy="457319"/>
          </a:xfrm>
          <a:prstGeom prst="roundRect">
            <a:avLst>
              <a:gd name="adj" fmla="val 6668"/>
            </a:avLst>
          </a:prstGeom>
          <a:solidFill>
            <a:srgbClr val="433550"/>
          </a:solidFill>
          <a:ln/>
        </p:spPr>
      </p:sp>
      <p:sp>
        <p:nvSpPr>
          <p:cNvPr id="82" name="Text 16">
            <a:extLst>
              <a:ext uri="{FF2B5EF4-FFF2-40B4-BE49-F238E27FC236}">
                <a16:creationId xmlns:a16="http://schemas.microsoft.com/office/drawing/2014/main" id="{9D31B993-DA51-B6FD-DC55-95037359BD76}"/>
              </a:ext>
            </a:extLst>
          </p:cNvPr>
          <p:cNvSpPr/>
          <p:nvPr/>
        </p:nvSpPr>
        <p:spPr>
          <a:xfrm>
            <a:off x="6451163" y="2442534"/>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3</a:t>
            </a:r>
            <a:endParaRPr lang="en-US" sz="1000" dirty="0">
              <a:solidFill>
                <a:schemeClr val="tx2">
                  <a:lumMod val="50000"/>
                </a:schemeClr>
              </a:solidFill>
            </a:endParaRPr>
          </a:p>
        </p:txBody>
      </p:sp>
      <p:sp>
        <p:nvSpPr>
          <p:cNvPr id="83" name="Text 17">
            <a:extLst>
              <a:ext uri="{FF2B5EF4-FFF2-40B4-BE49-F238E27FC236}">
                <a16:creationId xmlns:a16="http://schemas.microsoft.com/office/drawing/2014/main" id="{3528DF7C-D754-D6BE-581E-AE2F9372B505}"/>
              </a:ext>
            </a:extLst>
          </p:cNvPr>
          <p:cNvSpPr/>
          <p:nvPr/>
        </p:nvSpPr>
        <p:spPr>
          <a:xfrm>
            <a:off x="3046095" y="2474264"/>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3</a:t>
            </a:r>
            <a:endParaRPr lang="en-US" sz="1000" dirty="0">
              <a:solidFill>
                <a:schemeClr val="tx2">
                  <a:lumMod val="50000"/>
                </a:schemeClr>
              </a:solidFill>
            </a:endParaRPr>
          </a:p>
        </p:txBody>
      </p:sp>
      <p:sp>
        <p:nvSpPr>
          <p:cNvPr id="84" name="Text 18">
            <a:extLst>
              <a:ext uri="{FF2B5EF4-FFF2-40B4-BE49-F238E27FC236}">
                <a16:creationId xmlns:a16="http://schemas.microsoft.com/office/drawing/2014/main" id="{CE1C45CF-A299-F08B-1273-63D84341E2CF}"/>
              </a:ext>
            </a:extLst>
          </p:cNvPr>
          <p:cNvSpPr/>
          <p:nvPr/>
        </p:nvSpPr>
        <p:spPr>
          <a:xfrm>
            <a:off x="0" y="2901103"/>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Modular Architecture</a:t>
            </a:r>
            <a:endParaRPr lang="en-US" sz="1000" dirty="0">
              <a:solidFill>
                <a:schemeClr val="tx2">
                  <a:lumMod val="50000"/>
                </a:schemeClr>
              </a:solidFill>
            </a:endParaRPr>
          </a:p>
        </p:txBody>
      </p:sp>
      <p:sp>
        <p:nvSpPr>
          <p:cNvPr id="85" name="Text 19">
            <a:extLst>
              <a:ext uri="{FF2B5EF4-FFF2-40B4-BE49-F238E27FC236}">
                <a16:creationId xmlns:a16="http://schemas.microsoft.com/office/drawing/2014/main" id="{1E260D18-45C6-934D-28FE-32D79EA38D82}"/>
              </a:ext>
            </a:extLst>
          </p:cNvPr>
          <p:cNvSpPr/>
          <p:nvPr/>
        </p:nvSpPr>
        <p:spPr>
          <a:xfrm>
            <a:off x="0" y="3318656"/>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Service layers, API integration, app entry point</a:t>
            </a:r>
            <a:endParaRPr lang="en-US" sz="1000" dirty="0">
              <a:solidFill>
                <a:schemeClr val="tx2">
                  <a:lumMod val="50000"/>
                </a:schemeClr>
              </a:solidFill>
            </a:endParaRPr>
          </a:p>
        </p:txBody>
      </p:sp>
      <p:sp>
        <p:nvSpPr>
          <p:cNvPr id="86" name="Shape 20">
            <a:extLst>
              <a:ext uri="{FF2B5EF4-FFF2-40B4-BE49-F238E27FC236}">
                <a16:creationId xmlns:a16="http://schemas.microsoft.com/office/drawing/2014/main" id="{659FDE78-3F6D-4059-6350-88024AA54428}"/>
              </a:ext>
            </a:extLst>
          </p:cNvPr>
          <p:cNvSpPr/>
          <p:nvPr/>
        </p:nvSpPr>
        <p:spPr>
          <a:xfrm>
            <a:off x="6809482" y="3651912"/>
            <a:ext cx="609838" cy="22860"/>
          </a:xfrm>
          <a:prstGeom prst="roundRect">
            <a:avLst>
              <a:gd name="adj" fmla="val 133398"/>
            </a:avLst>
          </a:prstGeom>
          <a:solidFill>
            <a:srgbClr val="5C4E69"/>
          </a:solidFill>
          <a:ln/>
        </p:spPr>
      </p:sp>
      <p:sp>
        <p:nvSpPr>
          <p:cNvPr id="87" name="Shape 21">
            <a:extLst>
              <a:ext uri="{FF2B5EF4-FFF2-40B4-BE49-F238E27FC236}">
                <a16:creationId xmlns:a16="http://schemas.microsoft.com/office/drawing/2014/main" id="{E5AB452E-9329-CBB0-EC26-CCAC4DF54891}"/>
              </a:ext>
            </a:extLst>
          </p:cNvPr>
          <p:cNvSpPr/>
          <p:nvPr/>
        </p:nvSpPr>
        <p:spPr>
          <a:xfrm>
            <a:off x="6375022" y="3434742"/>
            <a:ext cx="457319" cy="457319"/>
          </a:xfrm>
          <a:prstGeom prst="roundRect">
            <a:avLst>
              <a:gd name="adj" fmla="val 6668"/>
            </a:avLst>
          </a:prstGeom>
          <a:solidFill>
            <a:srgbClr val="433550"/>
          </a:solidFill>
          <a:ln/>
        </p:spPr>
      </p:sp>
      <p:sp>
        <p:nvSpPr>
          <p:cNvPr id="88" name="Text 22">
            <a:extLst>
              <a:ext uri="{FF2B5EF4-FFF2-40B4-BE49-F238E27FC236}">
                <a16:creationId xmlns:a16="http://schemas.microsoft.com/office/drawing/2014/main" id="{BA788273-203A-3C26-259C-CDED71431AF5}"/>
              </a:ext>
            </a:extLst>
          </p:cNvPr>
          <p:cNvSpPr/>
          <p:nvPr/>
        </p:nvSpPr>
        <p:spPr>
          <a:xfrm>
            <a:off x="6451163" y="3472782"/>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4</a:t>
            </a:r>
            <a:endParaRPr lang="en-US" sz="1000" dirty="0">
              <a:solidFill>
                <a:schemeClr val="tx2">
                  <a:lumMod val="50000"/>
                </a:schemeClr>
              </a:solidFill>
            </a:endParaRPr>
          </a:p>
        </p:txBody>
      </p:sp>
      <p:sp>
        <p:nvSpPr>
          <p:cNvPr id="89" name="Text 23">
            <a:extLst>
              <a:ext uri="{FF2B5EF4-FFF2-40B4-BE49-F238E27FC236}">
                <a16:creationId xmlns:a16="http://schemas.microsoft.com/office/drawing/2014/main" id="{757226A7-1597-8B06-B655-939F213F40B4}"/>
              </a:ext>
            </a:extLst>
          </p:cNvPr>
          <p:cNvSpPr/>
          <p:nvPr/>
        </p:nvSpPr>
        <p:spPr>
          <a:xfrm>
            <a:off x="7620119" y="3504512"/>
            <a:ext cx="2541151" cy="317540"/>
          </a:xfrm>
          <a:prstGeom prst="rect">
            <a:avLst/>
          </a:prstGeom>
          <a:noFill/>
          <a:ln/>
        </p:spPr>
        <p:txBody>
          <a:bodyPr wrap="none" lIns="0" tIns="0" rIns="0" bIns="0" rtlCol="0" anchor="t"/>
          <a:lstStyle/>
          <a:p>
            <a:pPr marL="0" indent="0" algn="l">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4</a:t>
            </a:r>
            <a:endParaRPr lang="en-US" sz="1000" dirty="0">
              <a:solidFill>
                <a:schemeClr val="tx2">
                  <a:lumMod val="50000"/>
                </a:schemeClr>
              </a:solidFill>
            </a:endParaRPr>
          </a:p>
        </p:txBody>
      </p:sp>
      <p:sp>
        <p:nvSpPr>
          <p:cNvPr id="90" name="Text 24">
            <a:extLst>
              <a:ext uri="{FF2B5EF4-FFF2-40B4-BE49-F238E27FC236}">
                <a16:creationId xmlns:a16="http://schemas.microsoft.com/office/drawing/2014/main" id="{F5456CB9-06B3-FA26-353F-CFC1B8FAF5CB}"/>
              </a:ext>
            </a:extLst>
          </p:cNvPr>
          <p:cNvSpPr/>
          <p:nvPr/>
        </p:nvSpPr>
        <p:spPr>
          <a:xfrm>
            <a:off x="7620119" y="3931351"/>
            <a:ext cx="5587246" cy="308253"/>
          </a:xfrm>
          <a:prstGeom prst="rect">
            <a:avLst/>
          </a:prstGeom>
          <a:noFill/>
          <a:ln/>
        </p:spPr>
        <p:txBody>
          <a:bodyPr wrap="none" lIns="0" tIns="0" rIns="0" bIns="0" rtlCol="0" anchor="t"/>
          <a:lstStyle/>
          <a:p>
            <a:pPr marL="0" indent="0" algn="l">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UI Development</a:t>
            </a:r>
            <a:endParaRPr lang="en-US" sz="1000" dirty="0">
              <a:solidFill>
                <a:schemeClr val="tx2">
                  <a:lumMod val="50000"/>
                </a:schemeClr>
              </a:solidFill>
            </a:endParaRPr>
          </a:p>
        </p:txBody>
      </p:sp>
      <p:sp>
        <p:nvSpPr>
          <p:cNvPr id="91" name="Text 25">
            <a:extLst>
              <a:ext uri="{FF2B5EF4-FFF2-40B4-BE49-F238E27FC236}">
                <a16:creationId xmlns:a16="http://schemas.microsoft.com/office/drawing/2014/main" id="{6C657CF6-2732-85E5-90FE-9CAB5AB118DB}"/>
              </a:ext>
            </a:extLst>
          </p:cNvPr>
          <p:cNvSpPr/>
          <p:nvPr/>
        </p:nvSpPr>
        <p:spPr>
          <a:xfrm>
            <a:off x="7620119" y="4348903"/>
            <a:ext cx="5587246" cy="308253"/>
          </a:xfrm>
          <a:prstGeom prst="rect">
            <a:avLst/>
          </a:prstGeom>
          <a:noFill/>
          <a:ln/>
        </p:spPr>
        <p:txBody>
          <a:bodyPr wrap="none" lIns="0" tIns="0" rIns="0" bIns="0" rtlCol="0" anchor="t"/>
          <a:lstStyle/>
          <a:p>
            <a:pPr marL="0" indent="0" algn="l">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Streamlit interface, navigation, responsive design</a:t>
            </a:r>
            <a:endParaRPr lang="en-US" sz="1000" dirty="0">
              <a:solidFill>
                <a:schemeClr val="tx2">
                  <a:lumMod val="50000"/>
                </a:schemeClr>
              </a:solidFill>
            </a:endParaRPr>
          </a:p>
        </p:txBody>
      </p:sp>
      <p:sp>
        <p:nvSpPr>
          <p:cNvPr id="92" name="Shape 26">
            <a:extLst>
              <a:ext uri="{FF2B5EF4-FFF2-40B4-BE49-F238E27FC236}">
                <a16:creationId xmlns:a16="http://schemas.microsoft.com/office/drawing/2014/main" id="{0AE63C3C-516D-90B5-C774-463B89DFAC3F}"/>
              </a:ext>
            </a:extLst>
          </p:cNvPr>
          <p:cNvSpPr/>
          <p:nvPr/>
        </p:nvSpPr>
        <p:spPr>
          <a:xfrm>
            <a:off x="5788044" y="4682159"/>
            <a:ext cx="609838" cy="22860"/>
          </a:xfrm>
          <a:prstGeom prst="roundRect">
            <a:avLst>
              <a:gd name="adj" fmla="val 133398"/>
            </a:avLst>
          </a:prstGeom>
          <a:solidFill>
            <a:srgbClr val="5C4E69"/>
          </a:solidFill>
          <a:ln/>
        </p:spPr>
      </p:sp>
      <p:sp>
        <p:nvSpPr>
          <p:cNvPr id="93" name="Shape 27">
            <a:extLst>
              <a:ext uri="{FF2B5EF4-FFF2-40B4-BE49-F238E27FC236}">
                <a16:creationId xmlns:a16="http://schemas.microsoft.com/office/drawing/2014/main" id="{939F12B1-4F84-E2B7-8916-840E3E8EEAD7}"/>
              </a:ext>
            </a:extLst>
          </p:cNvPr>
          <p:cNvSpPr/>
          <p:nvPr/>
        </p:nvSpPr>
        <p:spPr>
          <a:xfrm>
            <a:off x="6375022" y="4464989"/>
            <a:ext cx="457319" cy="457319"/>
          </a:xfrm>
          <a:prstGeom prst="roundRect">
            <a:avLst>
              <a:gd name="adj" fmla="val 6668"/>
            </a:avLst>
          </a:prstGeom>
          <a:solidFill>
            <a:srgbClr val="433550"/>
          </a:solidFill>
          <a:ln/>
        </p:spPr>
      </p:sp>
      <p:sp>
        <p:nvSpPr>
          <p:cNvPr id="94" name="Text 28">
            <a:extLst>
              <a:ext uri="{FF2B5EF4-FFF2-40B4-BE49-F238E27FC236}">
                <a16:creationId xmlns:a16="http://schemas.microsoft.com/office/drawing/2014/main" id="{AA095E00-472D-25FD-4B7D-674515FE3472}"/>
              </a:ext>
            </a:extLst>
          </p:cNvPr>
          <p:cNvSpPr/>
          <p:nvPr/>
        </p:nvSpPr>
        <p:spPr>
          <a:xfrm>
            <a:off x="6451163" y="4503030"/>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5</a:t>
            </a:r>
            <a:endParaRPr lang="en-US" sz="1000" dirty="0">
              <a:solidFill>
                <a:schemeClr val="tx2">
                  <a:lumMod val="50000"/>
                </a:schemeClr>
              </a:solidFill>
            </a:endParaRPr>
          </a:p>
        </p:txBody>
      </p:sp>
      <p:sp>
        <p:nvSpPr>
          <p:cNvPr id="95" name="Text 29">
            <a:extLst>
              <a:ext uri="{FF2B5EF4-FFF2-40B4-BE49-F238E27FC236}">
                <a16:creationId xmlns:a16="http://schemas.microsoft.com/office/drawing/2014/main" id="{736D638B-1C58-6CA4-06DD-99DCB9D87B5F}"/>
              </a:ext>
            </a:extLst>
          </p:cNvPr>
          <p:cNvSpPr/>
          <p:nvPr/>
        </p:nvSpPr>
        <p:spPr>
          <a:xfrm>
            <a:off x="3046095" y="4534760"/>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5</a:t>
            </a:r>
            <a:endParaRPr lang="en-US" sz="1000" dirty="0">
              <a:solidFill>
                <a:schemeClr val="tx2">
                  <a:lumMod val="50000"/>
                </a:schemeClr>
              </a:solidFill>
            </a:endParaRPr>
          </a:p>
        </p:txBody>
      </p:sp>
      <p:sp>
        <p:nvSpPr>
          <p:cNvPr id="96" name="Text 30">
            <a:extLst>
              <a:ext uri="{FF2B5EF4-FFF2-40B4-BE49-F238E27FC236}">
                <a16:creationId xmlns:a16="http://schemas.microsoft.com/office/drawing/2014/main" id="{0C857220-60BB-61F6-590D-E2508BD3ADF2}"/>
              </a:ext>
            </a:extLst>
          </p:cNvPr>
          <p:cNvSpPr/>
          <p:nvPr/>
        </p:nvSpPr>
        <p:spPr>
          <a:xfrm>
            <a:off x="0" y="4961599"/>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Testing &amp; Optimization</a:t>
            </a:r>
            <a:endParaRPr lang="en-US" sz="1000" dirty="0">
              <a:solidFill>
                <a:schemeClr val="tx2">
                  <a:lumMod val="50000"/>
                </a:schemeClr>
              </a:solidFill>
            </a:endParaRPr>
          </a:p>
        </p:txBody>
      </p:sp>
      <p:sp>
        <p:nvSpPr>
          <p:cNvPr id="97" name="Text 31">
            <a:extLst>
              <a:ext uri="{FF2B5EF4-FFF2-40B4-BE49-F238E27FC236}">
                <a16:creationId xmlns:a16="http://schemas.microsoft.com/office/drawing/2014/main" id="{EAF5EC45-51F2-E248-ED76-01FD1C0021CE}"/>
              </a:ext>
            </a:extLst>
          </p:cNvPr>
          <p:cNvSpPr/>
          <p:nvPr/>
        </p:nvSpPr>
        <p:spPr>
          <a:xfrm>
            <a:off x="0" y="5379151"/>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Quality validation, performance tuning, deployment</a:t>
            </a:r>
            <a:endParaRPr lang="en-US" sz="1000" dirty="0">
              <a:solidFill>
                <a:schemeClr val="tx2">
                  <a:lumMod val="50000"/>
                </a:schemeClr>
              </a:solidFill>
            </a:endParaRPr>
          </a:p>
        </p:txBody>
      </p:sp>
    </p:spTree>
    <p:extLst>
      <p:ext uri="{BB962C8B-B14F-4D97-AF65-F5344CB8AC3E}">
        <p14:creationId xmlns:p14="http://schemas.microsoft.com/office/powerpoint/2010/main" val="4005205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098A4C-C9AD-BA8C-BDD0-F495E308B340}"/>
              </a:ext>
            </a:extLst>
          </p:cNvPr>
          <p:cNvSpPr/>
          <p:nvPr/>
        </p:nvSpPr>
        <p:spPr>
          <a:xfrm>
            <a:off x="695467" y="389707"/>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Testing &amp; Validation</a:t>
            </a:r>
            <a:endParaRPr lang="en-US" sz="4450" dirty="0"/>
          </a:p>
        </p:txBody>
      </p:sp>
      <p:sp>
        <p:nvSpPr>
          <p:cNvPr id="3" name="Text 1">
            <a:extLst>
              <a:ext uri="{FF2B5EF4-FFF2-40B4-BE49-F238E27FC236}">
                <a16:creationId xmlns:a16="http://schemas.microsoft.com/office/drawing/2014/main" id="{B2FDCBA9-34D8-0D3F-20F1-A27996426E4F}"/>
              </a:ext>
            </a:extLst>
          </p:cNvPr>
          <p:cNvSpPr/>
          <p:nvPr/>
        </p:nvSpPr>
        <p:spPr>
          <a:xfrm>
            <a:off x="695467" y="166546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Test Scenarios</a:t>
            </a:r>
            <a:endParaRPr lang="en-US" sz="2200" dirty="0"/>
          </a:p>
        </p:txBody>
      </p:sp>
      <p:sp>
        <p:nvSpPr>
          <p:cNvPr id="4" name="Text 2">
            <a:extLst>
              <a:ext uri="{FF2B5EF4-FFF2-40B4-BE49-F238E27FC236}">
                <a16:creationId xmlns:a16="http://schemas.microsoft.com/office/drawing/2014/main" id="{68849953-EFF4-A075-2721-D9831EF98865}"/>
              </a:ext>
            </a:extLst>
          </p:cNvPr>
          <p:cNvSpPr/>
          <p:nvPr/>
        </p:nvSpPr>
        <p:spPr>
          <a:xfrm>
            <a:off x="695467" y="2246606"/>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Clear, low-light, and cluttered pantry images</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Detection accuracy validation</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Recipe relevance testing</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Grocery list generation</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Health score consistency</a:t>
            </a:r>
            <a:endParaRPr lang="en-US" sz="1750" dirty="0">
              <a:solidFill>
                <a:schemeClr val="tx1">
                  <a:lumMod val="95000"/>
                  <a:lumOff val="5000"/>
                </a:schemeClr>
              </a:solidFill>
            </a:endParaRPr>
          </a:p>
        </p:txBody>
      </p:sp>
      <p:sp>
        <p:nvSpPr>
          <p:cNvPr id="5" name="Text 3">
            <a:extLst>
              <a:ext uri="{FF2B5EF4-FFF2-40B4-BE49-F238E27FC236}">
                <a16:creationId xmlns:a16="http://schemas.microsoft.com/office/drawing/2014/main" id="{30A04709-51CC-C0B3-6BDC-FECCC074BD2C}"/>
              </a:ext>
            </a:extLst>
          </p:cNvPr>
          <p:cNvSpPr/>
          <p:nvPr/>
        </p:nvSpPr>
        <p:spPr>
          <a:xfrm>
            <a:off x="7501198" y="166546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Quality Metrics</a:t>
            </a:r>
            <a:endParaRPr lang="en-US" sz="2200" dirty="0"/>
          </a:p>
        </p:txBody>
      </p:sp>
      <p:sp>
        <p:nvSpPr>
          <p:cNvPr id="6" name="Text 4">
            <a:extLst>
              <a:ext uri="{FF2B5EF4-FFF2-40B4-BE49-F238E27FC236}">
                <a16:creationId xmlns:a16="http://schemas.microsoft.com/office/drawing/2014/main" id="{2320D9D8-563A-FFDF-2B44-95B274267986}"/>
              </a:ext>
            </a:extLst>
          </p:cNvPr>
          <p:cNvSpPr/>
          <p:nvPr/>
        </p:nvSpPr>
        <p:spPr>
          <a:xfrm>
            <a:off x="7501198" y="2246606"/>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Image detection accuracy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Recipe quality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Health score consistency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Medium-High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UI usability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Response speed</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p:txBody>
      </p:sp>
    </p:spTree>
    <p:extLst>
      <p:ext uri="{BB962C8B-B14F-4D97-AF65-F5344CB8AC3E}">
        <p14:creationId xmlns:p14="http://schemas.microsoft.com/office/powerpoint/2010/main" val="254278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C71538C-2EB8-BD54-6501-B43CA8456ED4}"/>
              </a:ext>
            </a:extLst>
          </p:cNvPr>
          <p:cNvSpPr/>
          <p:nvPr/>
        </p:nvSpPr>
        <p:spPr>
          <a:xfrm>
            <a:off x="135028" y="127124"/>
            <a:ext cx="4737291" cy="617717"/>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Impact &amp; Benefits</a:t>
            </a:r>
            <a:endParaRPr lang="en-US" sz="4450" dirty="0"/>
          </a:p>
        </p:txBody>
      </p:sp>
      <p:sp>
        <p:nvSpPr>
          <p:cNvPr id="3" name="Shape 1">
            <a:extLst>
              <a:ext uri="{FF2B5EF4-FFF2-40B4-BE49-F238E27FC236}">
                <a16:creationId xmlns:a16="http://schemas.microsoft.com/office/drawing/2014/main" id="{F4667447-2118-6683-62EF-593194EF6FEF}"/>
              </a:ext>
            </a:extLst>
          </p:cNvPr>
          <p:cNvSpPr/>
          <p:nvPr/>
        </p:nvSpPr>
        <p:spPr>
          <a:xfrm>
            <a:off x="135028" y="1289533"/>
            <a:ext cx="6088791" cy="1139036"/>
          </a:xfrm>
          <a:prstGeom prst="roundRect">
            <a:avLst>
              <a:gd name="adj" fmla="val 2603"/>
            </a:avLst>
          </a:prstGeom>
          <a:solidFill>
            <a:srgbClr val="433550"/>
          </a:solidFill>
          <a:ln/>
        </p:spPr>
      </p:sp>
      <p:sp>
        <p:nvSpPr>
          <p:cNvPr id="4" name="Text 2">
            <a:extLst>
              <a:ext uri="{FF2B5EF4-FFF2-40B4-BE49-F238E27FC236}">
                <a16:creationId xmlns:a16="http://schemas.microsoft.com/office/drawing/2014/main" id="{E55A22BD-877F-4E43-780B-BDCFBDCE9F80}"/>
              </a:ext>
            </a:extLst>
          </p:cNvPr>
          <p:cNvSpPr/>
          <p:nvPr/>
        </p:nvSpPr>
        <p:spPr>
          <a:xfrm>
            <a:off x="361843" y="1516346"/>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Reduced Food Waste</a:t>
            </a:r>
            <a:endParaRPr lang="en-US" sz="2200" dirty="0"/>
          </a:p>
        </p:txBody>
      </p:sp>
      <p:sp>
        <p:nvSpPr>
          <p:cNvPr id="5" name="Text 3">
            <a:extLst>
              <a:ext uri="{FF2B5EF4-FFF2-40B4-BE49-F238E27FC236}">
                <a16:creationId xmlns:a16="http://schemas.microsoft.com/office/drawing/2014/main" id="{04D069FB-D6C3-EDC5-9C75-DD5C09A3B073}"/>
              </a:ext>
            </a:extLst>
          </p:cNvPr>
          <p:cNvSpPr/>
          <p:nvPr/>
        </p:nvSpPr>
        <p:spPr>
          <a:xfrm>
            <a:off x="361842" y="2006765"/>
            <a:ext cx="49743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Utilizes available ingredients efficiently, minimizing waste</a:t>
            </a:r>
            <a:endParaRPr lang="en-US" sz="1750" dirty="0"/>
          </a:p>
        </p:txBody>
      </p:sp>
      <p:sp>
        <p:nvSpPr>
          <p:cNvPr id="6" name="Shape 4">
            <a:extLst>
              <a:ext uri="{FF2B5EF4-FFF2-40B4-BE49-F238E27FC236}">
                <a16:creationId xmlns:a16="http://schemas.microsoft.com/office/drawing/2014/main" id="{CE6E9C8A-0F71-2CC4-4007-C4C008CB94E4}"/>
              </a:ext>
            </a:extLst>
          </p:cNvPr>
          <p:cNvSpPr/>
          <p:nvPr/>
        </p:nvSpPr>
        <p:spPr>
          <a:xfrm>
            <a:off x="6769787" y="1289533"/>
            <a:ext cx="5353387" cy="1139036"/>
          </a:xfrm>
          <a:prstGeom prst="roundRect">
            <a:avLst>
              <a:gd name="adj" fmla="val 2603"/>
            </a:avLst>
          </a:prstGeom>
          <a:solidFill>
            <a:srgbClr val="433550"/>
          </a:solidFill>
          <a:ln/>
        </p:spPr>
      </p:sp>
      <p:sp>
        <p:nvSpPr>
          <p:cNvPr id="7" name="Text 5">
            <a:extLst>
              <a:ext uri="{FF2B5EF4-FFF2-40B4-BE49-F238E27FC236}">
                <a16:creationId xmlns:a16="http://schemas.microsoft.com/office/drawing/2014/main" id="{E68A1418-4B3E-9C1F-B59B-48469632765D}"/>
              </a:ext>
            </a:extLst>
          </p:cNvPr>
          <p:cNvSpPr/>
          <p:nvPr/>
        </p:nvSpPr>
        <p:spPr>
          <a:xfrm>
            <a:off x="6996601" y="1516346"/>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Time Savings</a:t>
            </a:r>
            <a:endParaRPr lang="en-US" sz="2200" dirty="0"/>
          </a:p>
        </p:txBody>
      </p:sp>
      <p:sp>
        <p:nvSpPr>
          <p:cNvPr id="8" name="Text 6">
            <a:extLst>
              <a:ext uri="{FF2B5EF4-FFF2-40B4-BE49-F238E27FC236}">
                <a16:creationId xmlns:a16="http://schemas.microsoft.com/office/drawing/2014/main" id="{A53FFE2C-87E1-C3A7-D5DD-5F1D9DEDB477}"/>
              </a:ext>
            </a:extLst>
          </p:cNvPr>
          <p:cNvSpPr/>
          <p:nvPr/>
        </p:nvSpPr>
        <p:spPr>
          <a:xfrm>
            <a:off x="6996601" y="2006765"/>
            <a:ext cx="49744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Automates meal planning and grocery list creation</a:t>
            </a:r>
            <a:endParaRPr lang="en-US" sz="1750" dirty="0"/>
          </a:p>
        </p:txBody>
      </p:sp>
      <p:sp>
        <p:nvSpPr>
          <p:cNvPr id="9" name="Shape 7">
            <a:extLst>
              <a:ext uri="{FF2B5EF4-FFF2-40B4-BE49-F238E27FC236}">
                <a16:creationId xmlns:a16="http://schemas.microsoft.com/office/drawing/2014/main" id="{0CA47827-D9E2-416C-E9E9-89496CAA53C4}"/>
              </a:ext>
            </a:extLst>
          </p:cNvPr>
          <p:cNvSpPr/>
          <p:nvPr/>
        </p:nvSpPr>
        <p:spPr>
          <a:xfrm>
            <a:off x="135028" y="2823296"/>
            <a:ext cx="6088791" cy="1139036"/>
          </a:xfrm>
          <a:prstGeom prst="roundRect">
            <a:avLst>
              <a:gd name="adj" fmla="val 2603"/>
            </a:avLst>
          </a:prstGeom>
          <a:solidFill>
            <a:srgbClr val="433550"/>
          </a:solidFill>
          <a:ln/>
        </p:spPr>
      </p:sp>
      <p:sp>
        <p:nvSpPr>
          <p:cNvPr id="10" name="Text 8">
            <a:extLst>
              <a:ext uri="{FF2B5EF4-FFF2-40B4-BE49-F238E27FC236}">
                <a16:creationId xmlns:a16="http://schemas.microsoft.com/office/drawing/2014/main" id="{DAD78901-3C06-010E-8CF6-29CCE86BFA62}"/>
              </a:ext>
            </a:extLst>
          </p:cNvPr>
          <p:cNvSpPr/>
          <p:nvPr/>
        </p:nvSpPr>
        <p:spPr>
          <a:xfrm>
            <a:off x="361843" y="3050109"/>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Healthier Eating</a:t>
            </a:r>
            <a:endParaRPr lang="en-US" sz="2200" dirty="0"/>
          </a:p>
        </p:txBody>
      </p:sp>
      <p:sp>
        <p:nvSpPr>
          <p:cNvPr id="11" name="Text 9">
            <a:extLst>
              <a:ext uri="{FF2B5EF4-FFF2-40B4-BE49-F238E27FC236}">
                <a16:creationId xmlns:a16="http://schemas.microsoft.com/office/drawing/2014/main" id="{AE8BD418-B84B-138A-0BC9-5DA20C6EB50A}"/>
              </a:ext>
            </a:extLst>
          </p:cNvPr>
          <p:cNvSpPr/>
          <p:nvPr/>
        </p:nvSpPr>
        <p:spPr>
          <a:xfrm>
            <a:off x="361842" y="3540528"/>
            <a:ext cx="49743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Promotes balanced nutrition through scoring system</a:t>
            </a:r>
            <a:endParaRPr lang="en-US" sz="1750" dirty="0"/>
          </a:p>
        </p:txBody>
      </p:sp>
      <p:sp>
        <p:nvSpPr>
          <p:cNvPr id="12" name="Shape 10">
            <a:extLst>
              <a:ext uri="{FF2B5EF4-FFF2-40B4-BE49-F238E27FC236}">
                <a16:creationId xmlns:a16="http://schemas.microsoft.com/office/drawing/2014/main" id="{D6FACB80-2A69-D00D-FA8D-5D97608974C5}"/>
              </a:ext>
            </a:extLst>
          </p:cNvPr>
          <p:cNvSpPr/>
          <p:nvPr/>
        </p:nvSpPr>
        <p:spPr>
          <a:xfrm>
            <a:off x="6769787" y="2823296"/>
            <a:ext cx="5353387" cy="1139036"/>
          </a:xfrm>
          <a:prstGeom prst="roundRect">
            <a:avLst>
              <a:gd name="adj" fmla="val 2603"/>
            </a:avLst>
          </a:prstGeom>
          <a:solidFill>
            <a:srgbClr val="433550"/>
          </a:solidFill>
          <a:ln/>
        </p:spPr>
      </p:sp>
      <p:sp>
        <p:nvSpPr>
          <p:cNvPr id="13" name="Text 11">
            <a:extLst>
              <a:ext uri="{FF2B5EF4-FFF2-40B4-BE49-F238E27FC236}">
                <a16:creationId xmlns:a16="http://schemas.microsoft.com/office/drawing/2014/main" id="{373801CB-0573-3D07-87A4-98267E54BEB6}"/>
              </a:ext>
            </a:extLst>
          </p:cNvPr>
          <p:cNvSpPr/>
          <p:nvPr/>
        </p:nvSpPr>
        <p:spPr>
          <a:xfrm>
            <a:off x="6996601" y="3050109"/>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Cooking Confidence</a:t>
            </a:r>
            <a:endParaRPr lang="en-US" sz="2200" dirty="0"/>
          </a:p>
        </p:txBody>
      </p:sp>
      <p:sp>
        <p:nvSpPr>
          <p:cNvPr id="14" name="Text 12">
            <a:extLst>
              <a:ext uri="{FF2B5EF4-FFF2-40B4-BE49-F238E27FC236}">
                <a16:creationId xmlns:a16="http://schemas.microsoft.com/office/drawing/2014/main" id="{A59223F4-E73E-CF1A-8039-7E852B444A01}"/>
              </a:ext>
            </a:extLst>
          </p:cNvPr>
          <p:cNvSpPr/>
          <p:nvPr/>
        </p:nvSpPr>
        <p:spPr>
          <a:xfrm>
            <a:off x="6996601" y="3540528"/>
            <a:ext cx="49744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Beginner-friendly recipes boost culinary skills</a:t>
            </a:r>
            <a:endParaRPr lang="en-US" sz="1750" dirty="0"/>
          </a:p>
        </p:txBody>
      </p:sp>
    </p:spTree>
    <p:extLst>
      <p:ext uri="{BB962C8B-B14F-4D97-AF65-F5344CB8AC3E}">
        <p14:creationId xmlns:p14="http://schemas.microsoft.com/office/powerpoint/2010/main" val="1275107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2FDB96-059A-DD50-965C-8257A245A7D5}"/>
              </a:ext>
            </a:extLst>
          </p:cNvPr>
          <p:cNvSpPr/>
          <p:nvPr/>
        </p:nvSpPr>
        <p:spPr>
          <a:xfrm>
            <a:off x="213686" y="11645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Conclusion</a:t>
            </a:r>
            <a:endParaRPr lang="en-US" sz="4450" dirty="0"/>
          </a:p>
        </p:txBody>
      </p:sp>
      <p:sp>
        <p:nvSpPr>
          <p:cNvPr id="3" name="Text 1">
            <a:extLst>
              <a:ext uri="{FF2B5EF4-FFF2-40B4-BE49-F238E27FC236}">
                <a16:creationId xmlns:a16="http://schemas.microsoft.com/office/drawing/2014/main" id="{6B721AEE-721D-2118-B499-42D562A86668}"/>
              </a:ext>
            </a:extLst>
          </p:cNvPr>
          <p:cNvSpPr/>
          <p:nvPr/>
        </p:nvSpPr>
        <p:spPr>
          <a:xfrm>
            <a:off x="367035" y="1292416"/>
            <a:ext cx="11611280" cy="1222548"/>
          </a:xfrm>
          <a:prstGeom prst="rect">
            <a:avLst/>
          </a:prstGeom>
          <a:noFill/>
          <a:ln/>
        </p:spPr>
        <p:txBody>
          <a:bodyPr wrap="square" lIns="0" tIns="0" rIns="0" bIns="0" rtlCol="0" anchor="t"/>
          <a:lstStyle/>
          <a:p>
            <a:pPr marL="0" indent="0" algn="l">
              <a:lnSpc>
                <a:spcPts val="2850"/>
              </a:lnSpc>
              <a:buNone/>
            </a:pPr>
            <a:r>
              <a:rPr lang="en-US" dirty="0">
                <a:solidFill>
                  <a:schemeClr val="bg2">
                    <a:lumMod val="10000"/>
                  </a:schemeClr>
                </a:solidFill>
                <a:latin typeface="Fira Sans" pitchFamily="34" charset="0"/>
                <a:ea typeface="Fira Sans" pitchFamily="34" charset="-122"/>
                <a:cs typeface="Fira Sans" pitchFamily="34" charset="-120"/>
              </a:rPr>
              <a:t>Kitchen Vision redefines everyday cooking assistance by delivering an intelligent, AI-powered solution that transforms pantry images into meaningful culinary insights.</a:t>
            </a:r>
            <a:endParaRPr lang="en-US" dirty="0">
              <a:solidFill>
                <a:schemeClr val="bg2">
                  <a:lumMod val="10000"/>
                </a:schemeClr>
              </a:solidFill>
            </a:endParaRPr>
          </a:p>
        </p:txBody>
      </p:sp>
      <p:sp>
        <p:nvSpPr>
          <p:cNvPr id="4" name="Shape 2">
            <a:extLst>
              <a:ext uri="{FF2B5EF4-FFF2-40B4-BE49-F238E27FC236}">
                <a16:creationId xmlns:a16="http://schemas.microsoft.com/office/drawing/2014/main" id="{998884D0-7D1B-A575-A65B-1040C7C7EEBB}"/>
              </a:ext>
            </a:extLst>
          </p:cNvPr>
          <p:cNvSpPr/>
          <p:nvPr/>
        </p:nvSpPr>
        <p:spPr>
          <a:xfrm>
            <a:off x="213686" y="1278857"/>
            <a:ext cx="30480" cy="1236107"/>
          </a:xfrm>
          <a:prstGeom prst="rect">
            <a:avLst/>
          </a:prstGeom>
          <a:solidFill>
            <a:srgbClr val="F94CAF"/>
          </a:solidFill>
          <a:ln/>
        </p:spPr>
      </p:sp>
      <p:sp>
        <p:nvSpPr>
          <p:cNvPr id="5" name="Text 3">
            <a:extLst>
              <a:ext uri="{FF2B5EF4-FFF2-40B4-BE49-F238E27FC236}">
                <a16:creationId xmlns:a16="http://schemas.microsoft.com/office/drawing/2014/main" id="{E5A5ED8E-670E-5E2E-C274-2A433560D8F5}"/>
              </a:ext>
            </a:extLst>
          </p:cNvPr>
          <p:cNvSpPr/>
          <p:nvPr/>
        </p:nvSpPr>
        <p:spPr>
          <a:xfrm>
            <a:off x="213686" y="2770115"/>
            <a:ext cx="11476869" cy="1900208"/>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10000"/>
                  </a:schemeClr>
                </a:solidFill>
                <a:latin typeface="Fira Sans" pitchFamily="34" charset="0"/>
                <a:ea typeface="Fira Sans" pitchFamily="34" charset="-122"/>
                <a:cs typeface="Fira Sans" pitchFamily="34" charset="-120"/>
              </a:rPr>
              <a:t>By combining Streamlit with advanced multimodal AI models, the system accurately analyzes pantry images, identifies and categorizes food items, and generates simple, practical recipes tailored to available ingredients. The application efficiently handles image processing, recipe generation, substitution logic, health scoring, and grocery list creation through well-structured service layers.</a:t>
            </a:r>
            <a:endParaRPr lang="en-US" sz="1750" dirty="0">
              <a:solidFill>
                <a:schemeClr val="bg2">
                  <a:lumMod val="10000"/>
                </a:schemeClr>
              </a:solidFill>
            </a:endParaRPr>
          </a:p>
        </p:txBody>
      </p:sp>
      <p:sp>
        <p:nvSpPr>
          <p:cNvPr id="6" name="Text 4">
            <a:extLst>
              <a:ext uri="{FF2B5EF4-FFF2-40B4-BE49-F238E27FC236}">
                <a16:creationId xmlns:a16="http://schemas.microsoft.com/office/drawing/2014/main" id="{51A403D5-4593-F2B6-90B0-69071B567EC8}"/>
              </a:ext>
            </a:extLst>
          </p:cNvPr>
          <p:cNvSpPr/>
          <p:nvPr/>
        </p:nvSpPr>
        <p:spPr>
          <a:xfrm>
            <a:off x="213686" y="4476876"/>
            <a:ext cx="11870159"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highlight>
                  <a:srgbClr val="F94CAF"/>
                </a:highlight>
                <a:latin typeface="Fira Sans" pitchFamily="34" charset="0"/>
                <a:ea typeface="Fira Sans" pitchFamily="34" charset="-122"/>
                <a:cs typeface="Fira Sans" pitchFamily="34" charset="-120"/>
              </a:rPr>
              <a:t>Kitchen Vision helps users reduce food waste, save time, and promote healthier eating habits—making every day cooking smarter, easier, and healthier.</a:t>
            </a:r>
            <a:endParaRPr lang="en-US" sz="1750" dirty="0"/>
          </a:p>
        </p:txBody>
      </p:sp>
    </p:spTree>
    <p:extLst>
      <p:ext uri="{BB962C8B-B14F-4D97-AF65-F5344CB8AC3E}">
        <p14:creationId xmlns:p14="http://schemas.microsoft.com/office/powerpoint/2010/main" val="19243326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50</TotalTime>
  <Words>613</Words>
  <Application>Microsoft Office PowerPoint</Application>
  <PresentationFormat>Widescreen</PresentationFormat>
  <Paragraphs>118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Fira Sans</vt:lpstr>
      <vt:lpstr>Gill Sans MT</vt:lpstr>
      <vt:lpstr>Inconsolata Bold</vt:lpstr>
      <vt:lpstr>Inconsolata Light</vt:lpstr>
      <vt:lpstr>Times New Roman</vt:lpstr>
      <vt:lpstr>Gallery</vt:lpstr>
      <vt:lpstr>Kitchen Vision</vt:lpstr>
      <vt:lpstr>Project Overview</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hvishnu67@outlook.com</dc:creator>
  <cp:lastModifiedBy>hvishnu67@outlook.com</cp:lastModifiedBy>
  <cp:revision>3</cp:revision>
  <dcterms:created xsi:type="dcterms:W3CDTF">2026-03-09T16:27:27Z</dcterms:created>
  <dcterms:modified xsi:type="dcterms:W3CDTF">2026-03-10T15:01:36Z</dcterms:modified>
</cp:coreProperties>
</file>